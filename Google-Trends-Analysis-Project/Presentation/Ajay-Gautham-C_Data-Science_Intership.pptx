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6"/>
  </p:notesMasterIdLst>
  <p:sldIdLst>
    <p:sldId id="256" r:id="rId2"/>
    <p:sldId id="258" r:id="rId3"/>
    <p:sldId id="259" r:id="rId4"/>
    <p:sldId id="261" r:id="rId5"/>
    <p:sldId id="296" r:id="rId6"/>
    <p:sldId id="262" r:id="rId7"/>
    <p:sldId id="270" r:id="rId8"/>
    <p:sldId id="263" r:id="rId9"/>
    <p:sldId id="267" r:id="rId10"/>
    <p:sldId id="299" r:id="rId11"/>
    <p:sldId id="300" r:id="rId12"/>
    <p:sldId id="301" r:id="rId13"/>
    <p:sldId id="264" r:id="rId14"/>
    <p:sldId id="302" r:id="rId15"/>
  </p:sldIdLst>
  <p:sldSz cx="9144000" cy="5143500" type="screen16x9"/>
  <p:notesSz cx="6858000" cy="9144000"/>
  <p:embeddedFontLst>
    <p:embeddedFont>
      <p:font typeface="Anaheim" panose="020B0604020202020204" charset="0"/>
      <p:regular r:id="rId17"/>
      <p:bold r:id="rId18"/>
    </p:embeddedFont>
    <p:embeddedFont>
      <p:font typeface="Cairo" panose="020B0604020202020204" charset="-78"/>
      <p:regular r:id="rId19"/>
      <p:bold r:id="rId20"/>
    </p:embeddedFont>
    <p:embeddedFont>
      <p:font typeface="Nunito Light" pitchFamily="2" charset="0"/>
      <p:regular r:id="rId21"/>
      <p: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Space Grotesk" panose="020B0604020202020204" charset="0"/>
      <p:regular r:id="rId31"/>
      <p:bold r:id="rId32"/>
    </p:embeddedFont>
    <p:embeddedFont>
      <p:font typeface="Space Grotesk Medium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B7E3A9-A111-4A5D-9135-923AED4919D0}">
  <a:tblStyle styleId="{54B7E3A9-A111-4A5D-9135-923AED4919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EFD0BC-3D76-417B-97A4-88E46E2D860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46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66" name="Google Shape;26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83" name="Google Shape;28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0" name="Google Shape;30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EA7C94A6-427D-C0FF-9D1F-429A20B3D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786372C6-EA0F-43B0-D7B6-9850D89A8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83D9BB7B-313A-7758-80AC-F2AD13D25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130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13" name="Google Shape;31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54" name="Google Shape;454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27" name="Google Shape;32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7" name="Google Shape;427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E96CC5F8-EBB7-2D60-5B26-42B96143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84d99d1a72_0_242:notes">
            <a:extLst>
              <a:ext uri="{FF2B5EF4-FFF2-40B4-BE49-F238E27FC236}">
                <a16:creationId xmlns:a16="http://schemas.microsoft.com/office/drawing/2014/main" id="{0A5A7B93-360F-539D-09C1-156F6C521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7" name="Google Shape;427;g184d99d1a72_0_242:notes">
            <a:extLst>
              <a:ext uri="{FF2B5EF4-FFF2-40B4-BE49-F238E27FC236}">
                <a16:creationId xmlns:a16="http://schemas.microsoft.com/office/drawing/2014/main" id="{0561612D-28D4-4985-2C6D-01DE245CFB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886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4011291B-6AE8-7A07-2BE3-8BEC95770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84d99d1a72_0_242:notes">
            <a:extLst>
              <a:ext uri="{FF2B5EF4-FFF2-40B4-BE49-F238E27FC236}">
                <a16:creationId xmlns:a16="http://schemas.microsoft.com/office/drawing/2014/main" id="{457D3D96-DFF3-FCF7-6651-40DE71622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7" name="Google Shape;427;g184d99d1a72_0_242:notes">
            <a:extLst>
              <a:ext uri="{FF2B5EF4-FFF2-40B4-BE49-F238E27FC236}">
                <a16:creationId xmlns:a16="http://schemas.microsoft.com/office/drawing/2014/main" id="{852EB07C-33DD-6314-0AD4-B805881AF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1221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6F8BE2F9-AB95-9F5D-9226-0DEFB46D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84d99d1a72_0_242:notes">
            <a:extLst>
              <a:ext uri="{FF2B5EF4-FFF2-40B4-BE49-F238E27FC236}">
                <a16:creationId xmlns:a16="http://schemas.microsoft.com/office/drawing/2014/main" id="{5DEE9433-1E85-B173-412C-771C1A8359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7" name="Google Shape;427;g184d99d1a72_0_242:notes">
            <a:extLst>
              <a:ext uri="{FF2B5EF4-FFF2-40B4-BE49-F238E27FC236}">
                <a16:creationId xmlns:a16="http://schemas.microsoft.com/office/drawing/2014/main" id="{CAF7AC88-9E06-713A-EC58-DA6D714C0A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778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63" name="Google Shape;363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>
          <a:extLst>
            <a:ext uri="{FF2B5EF4-FFF2-40B4-BE49-F238E27FC236}">
              <a16:creationId xmlns:a16="http://schemas.microsoft.com/office/drawing/2014/main" id="{79EA3300-6263-152C-E7FE-F0E84EBA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84d99d1a72_0_2:notes">
            <a:extLst>
              <a:ext uri="{FF2B5EF4-FFF2-40B4-BE49-F238E27FC236}">
                <a16:creationId xmlns:a16="http://schemas.microsoft.com/office/drawing/2014/main" id="{382E39A4-5C85-1705-9C0C-954AEAC8DD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63" name="Google Shape;363;g184d99d1a72_0_2:notes">
            <a:extLst>
              <a:ext uri="{FF2B5EF4-FFF2-40B4-BE49-F238E27FC236}">
                <a16:creationId xmlns:a16="http://schemas.microsoft.com/office/drawing/2014/main" id="{B6FA343C-089C-ACA8-700C-17C171D4FE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9172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32" name="Google Shape;3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" name="Google Shape;34;p5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5" name="Google Shape;35;p5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6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" name="Google Shape;42;p6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3" name="Google Shape;43;p6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088475" y="770400"/>
            <a:ext cx="3081600" cy="3602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49" name="Google Shape;49;p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0" name="Google Shape;50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" name="Google Shape;52;p7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3" name="Google Shape;53;p7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4" hasCustomPrompt="1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5" hasCustomPrompt="1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6" hasCustomPrompt="1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7" hasCustomPrompt="1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8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9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3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4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5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05" name="Google Shape;105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3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08" name="Google Shape;108;p1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12" name="Google Shape;112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" name="Google Shape;114;p1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15" name="Google Shape;115;p1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60" name="Google Shape;16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19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63" name="Google Shape;163;p1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ubTitle" idx="1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2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3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ubTitle" idx="4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subTitle" idx="5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6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0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77" name="Google Shape;177;p20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subTitle" idx="1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subTitle" idx="2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3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subTitle" idx="4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subTitle" idx="5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subTitle" idx="6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6" name="Google Shape;186;p20"/>
          <p:cNvSpPr txBox="1">
            <a:spLocks noGrp="1"/>
          </p:cNvSpPr>
          <p:nvPr>
            <p:ph type="subTitle" idx="7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ubTitle" idx="8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90" name="Google Shape;190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2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93" name="Google Shape;193;p21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1"/>
          <p:cNvSpPr txBox="1">
            <a:spLocks noGrp="1"/>
          </p:cNvSpPr>
          <p:nvPr>
            <p:ph type="subTitle" idx="1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subTitle" idx="2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subTitle" idx="3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subTitle" idx="4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ubTitle" idx="5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subTitle" idx="6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1"/>
          <p:cNvSpPr txBox="1">
            <a:spLocks noGrp="1"/>
          </p:cNvSpPr>
          <p:nvPr>
            <p:ph type="subTitle" idx="7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8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9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subTitle" idx="13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14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15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5" r:id="rId11"/>
    <p:sldLayoutId id="2147483666" r:id="rId12"/>
    <p:sldLayoutId id="2147483667" r:id="rId13"/>
    <p:sldLayoutId id="2147483670" r:id="rId14"/>
    <p:sldLayoutId id="214748367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434254" y="2010279"/>
            <a:ext cx="5726321" cy="13224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Google Trends Market Intelligence &amp; Forecasting using Python </a:t>
            </a:r>
            <a:br>
              <a:rPr lang="en-US" sz="2400" dirty="0"/>
            </a:br>
            <a:r>
              <a:rPr lang="en-US" sz="2400" dirty="0"/>
              <a:t>-</a:t>
            </a:r>
            <a:r>
              <a:rPr lang="en-US" sz="1800" b="1" dirty="0"/>
              <a:t>Internship Project Submission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434254" y="3412626"/>
            <a:ext cx="2324444" cy="15000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Prepared by:</a:t>
            </a:r>
            <a:br>
              <a:rPr lang="en-US" sz="1200" dirty="0"/>
            </a:br>
            <a:r>
              <a:rPr lang="en-US" sz="1200" b="1" dirty="0"/>
              <a:t>Ajay Gautham C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Organization:</a:t>
            </a:r>
            <a:br>
              <a:rPr lang="en-US" sz="1200" dirty="0"/>
            </a:br>
            <a:r>
              <a:rPr lang="en-US" sz="1200" b="1" dirty="0"/>
              <a:t>AENEXZ TECH PVT LTD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title" idx="2"/>
          </p:nvPr>
        </p:nvSpPr>
        <p:spPr>
          <a:xfrm>
            <a:off x="7200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title" idx="3"/>
          </p:nvPr>
        </p:nvSpPr>
        <p:spPr>
          <a:xfrm>
            <a:off x="720000" y="2990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title" idx="4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 idx="5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title" idx="6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74" name="Google Shape;274;p31"/>
          <p:cNvSpPr txBox="1">
            <a:spLocks noGrp="1"/>
          </p:cNvSpPr>
          <p:nvPr>
            <p:ph type="title" idx="7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1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Introduction</a:t>
            </a:r>
            <a:endParaRPr sz="1400" dirty="0"/>
          </a:p>
        </p:txBody>
      </p:sp>
      <p:sp>
        <p:nvSpPr>
          <p:cNvPr id="276" name="Google Shape;276;p31"/>
          <p:cNvSpPr txBox="1">
            <a:spLocks noGrp="1"/>
          </p:cNvSpPr>
          <p:nvPr>
            <p:ph type="subTitle" idx="8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Project Objectives</a:t>
            </a:r>
            <a:endParaRPr sz="1400" dirty="0"/>
          </a:p>
        </p:txBody>
      </p:sp>
      <p:sp>
        <p:nvSpPr>
          <p:cNvPr id="277" name="Google Shape;277;p31"/>
          <p:cNvSpPr txBox="1">
            <a:spLocks noGrp="1"/>
          </p:cNvSpPr>
          <p:nvPr>
            <p:ph type="subTitle" idx="9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Methodology &amp; Data Collection</a:t>
            </a:r>
            <a:endParaRPr sz="1400" dirty="0"/>
          </a:p>
        </p:txBody>
      </p:sp>
      <p:sp>
        <p:nvSpPr>
          <p:cNvPr id="278" name="Google Shape;278;p31"/>
          <p:cNvSpPr txBox="1">
            <a:spLocks noGrp="1"/>
          </p:cNvSpPr>
          <p:nvPr>
            <p:ph type="subTitle" idx="13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Data Analysis &amp; Visualization</a:t>
            </a:r>
            <a:endParaRPr sz="1400" dirty="0"/>
          </a:p>
        </p:txBody>
      </p:sp>
      <p:sp>
        <p:nvSpPr>
          <p:cNvPr id="279" name="Google Shape;279;p31"/>
          <p:cNvSpPr txBox="1">
            <a:spLocks noGrp="1"/>
          </p:cNvSpPr>
          <p:nvPr>
            <p:ph type="subTitle" idx="14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Regional Analysis &amp; Forecasting</a:t>
            </a:r>
            <a:endParaRPr sz="1400" dirty="0"/>
          </a:p>
        </p:txBody>
      </p:sp>
      <p:sp>
        <p:nvSpPr>
          <p:cNvPr id="280" name="Google Shape;280;p31"/>
          <p:cNvSpPr txBox="1">
            <a:spLocks noGrp="1"/>
          </p:cNvSpPr>
          <p:nvPr>
            <p:ph type="subTitle" idx="15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Conclusion &amp; Future Work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88" r="27583"/>
          <a:stretch/>
        </p:blipFill>
        <p:spPr>
          <a:xfrm>
            <a:off x="5088475" y="770400"/>
            <a:ext cx="3081600" cy="3602700"/>
          </a:xfrm>
          <a:prstGeom prst="roundRect">
            <a:avLst>
              <a:gd name="adj" fmla="val 8416"/>
            </a:avLst>
          </a:prstGeom>
        </p:spPr>
      </p:pic>
      <p:sp>
        <p:nvSpPr>
          <p:cNvPr id="286" name="Google Shape;286;p32"/>
          <p:cNvSpPr txBox="1">
            <a:spLocks noGrp="1"/>
          </p:cNvSpPr>
          <p:nvPr>
            <p:ph type="title"/>
          </p:nvPr>
        </p:nvSpPr>
        <p:spPr>
          <a:xfrm>
            <a:off x="811975" y="829350"/>
            <a:ext cx="3993300" cy="6649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b="1" dirty="0"/>
              <a:t>Introduction</a:t>
            </a:r>
            <a:endParaRPr b="1" dirty="0"/>
          </a:p>
        </p:txBody>
      </p:sp>
      <p:sp>
        <p:nvSpPr>
          <p:cNvPr id="287" name="Google Shape;287;p32"/>
          <p:cNvSpPr txBox="1">
            <a:spLocks noGrp="1"/>
          </p:cNvSpPr>
          <p:nvPr>
            <p:ph type="subTitle" idx="1"/>
          </p:nvPr>
        </p:nvSpPr>
        <p:spPr>
          <a:xfrm>
            <a:off x="811975" y="1494262"/>
            <a:ext cx="3993300" cy="2819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1463" indent="-1857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processes billions of searches daily, generating valuable data about user interests and market demand.</a:t>
            </a:r>
          </a:p>
          <a:p>
            <a:pPr marL="271463" indent="-1857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Analysing search trends helps understand:</a:t>
            </a:r>
          </a:p>
          <a:p>
            <a:pPr marL="271463" indent="-1857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Technology adoption trends</a:t>
            </a:r>
          </a:p>
          <a:p>
            <a:pPr marL="271463" indent="-1857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Market demand changes</a:t>
            </a:r>
          </a:p>
          <a:p>
            <a:pPr marL="271463" indent="-1857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Emerging topics</a:t>
            </a:r>
          </a:p>
          <a:p>
            <a:pPr marL="271463" indent="-1857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Consumer interest patterns</a:t>
            </a:r>
          </a:p>
          <a:p>
            <a:pPr marL="271463" indent="-1857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Trends provides a platform to analyse this search behaviour.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Project Motivation</a:t>
            </a:r>
            <a:endParaRPr b="1" dirty="0"/>
          </a:p>
        </p:txBody>
      </p:sp>
      <p:sp>
        <p:nvSpPr>
          <p:cNvPr id="305" name="Google Shape;305;p34"/>
          <p:cNvSpPr txBox="1">
            <a:spLocks noGrp="1"/>
          </p:cNvSpPr>
          <p:nvPr>
            <p:ph type="subTitle" idx="2"/>
          </p:nvPr>
        </p:nvSpPr>
        <p:spPr>
          <a:xfrm>
            <a:off x="1279907" y="1987650"/>
            <a:ext cx="3664052" cy="2196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just">
              <a:lnSpc>
                <a:spcPct val="150000"/>
              </a:lnSpc>
            </a:pPr>
            <a:r>
              <a:rPr lang="en-US" dirty="0"/>
              <a:t>Businesses and analysts often struggle to identify: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Which technologies are gaining popularity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Regional interest in different technologies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Future demand trends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Without proper analysis, organizations cannot make informed strategic decisions.</a:t>
            </a:r>
          </a:p>
        </p:txBody>
      </p:sp>
      <p:sp>
        <p:nvSpPr>
          <p:cNvPr id="306" name="Google Shape;306;p34"/>
          <p:cNvSpPr txBox="1">
            <a:spLocks noGrp="1"/>
          </p:cNvSpPr>
          <p:nvPr>
            <p:ph type="subTitle" idx="3"/>
          </p:nvPr>
        </p:nvSpPr>
        <p:spPr>
          <a:xfrm>
            <a:off x="1436091" y="1361407"/>
            <a:ext cx="2485751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Problem Statement</a:t>
            </a:r>
            <a:endParaRPr dirty="0"/>
          </a:p>
        </p:txBody>
      </p:sp>
      <p:grpSp>
        <p:nvGrpSpPr>
          <p:cNvPr id="308" name="Google Shape;308;p34"/>
          <p:cNvGrpSpPr/>
          <p:nvPr/>
        </p:nvGrpSpPr>
        <p:grpSpPr>
          <a:xfrm>
            <a:off x="884700" y="1421665"/>
            <a:ext cx="337537" cy="329185"/>
            <a:chOff x="-3852025" y="2764950"/>
            <a:chExt cx="291450" cy="293000"/>
          </a:xfrm>
        </p:grpSpPr>
        <p:sp>
          <p:nvSpPr>
            <p:cNvPr id="309" name="Google Shape;309;p34"/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Problem Solving Skills: Meaning, Steps, Techniques (2025)">
            <a:extLst>
              <a:ext uri="{FF2B5EF4-FFF2-40B4-BE49-F238E27FC236}">
                <a16:creationId xmlns:a16="http://schemas.microsoft.com/office/drawing/2014/main" id="{97073BAE-5043-4084-7BA8-AD2A359B6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13" y="1445455"/>
            <a:ext cx="3445628" cy="225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248C5C7A-4EF0-B96B-6842-EA24F649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>
            <a:extLst>
              <a:ext uri="{FF2B5EF4-FFF2-40B4-BE49-F238E27FC236}">
                <a16:creationId xmlns:a16="http://schemas.microsoft.com/office/drawing/2014/main" id="{A794F6A1-BE5D-BA54-AE55-B1BCEB0FEDE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399243" y="1282262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Project Scope</a:t>
            </a:r>
            <a:endParaRPr dirty="0"/>
          </a:p>
        </p:txBody>
      </p:sp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3E62B8A8-506C-D764-BDA7-88F78281CD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Objectives</a:t>
            </a:r>
            <a:endParaRPr b="1" dirty="0"/>
          </a:p>
        </p:txBody>
      </p:sp>
      <p:sp>
        <p:nvSpPr>
          <p:cNvPr id="304" name="Google Shape;304;p34">
            <a:extLst>
              <a:ext uri="{FF2B5EF4-FFF2-40B4-BE49-F238E27FC236}">
                <a16:creationId xmlns:a16="http://schemas.microsoft.com/office/drawing/2014/main" id="{EEF9B7B0-B4B1-7063-A7BA-F796CA05FC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00525" y="1873923"/>
            <a:ext cx="3441957" cy="24501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</a:pPr>
            <a:r>
              <a:rPr lang="en-US" dirty="0"/>
              <a:t>The objectives of this project are: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Analyze Google search trends using Python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Compare search interest for multiple technologies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Identify regional demand patterns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Discover related trending queries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Forecast future search trends using time-series forecasting</a:t>
            </a:r>
          </a:p>
        </p:txBody>
      </p:sp>
      <p:sp>
        <p:nvSpPr>
          <p:cNvPr id="307" name="Google Shape;307;p34">
            <a:extLst>
              <a:ext uri="{FF2B5EF4-FFF2-40B4-BE49-F238E27FC236}">
                <a16:creationId xmlns:a16="http://schemas.microsoft.com/office/drawing/2014/main" id="{51E72242-BAF4-EE47-610F-036CD4C89155}"/>
              </a:ext>
            </a:extLst>
          </p:cNvPr>
          <p:cNvSpPr/>
          <p:nvPr/>
        </p:nvSpPr>
        <p:spPr>
          <a:xfrm>
            <a:off x="925062" y="1282262"/>
            <a:ext cx="310898" cy="365762"/>
          </a:xfrm>
          <a:custGeom>
            <a:avLst/>
            <a:gdLst/>
            <a:ahLst/>
            <a:cxnLst/>
            <a:rect l="l" t="t" r="r" b="b"/>
            <a:pathLst>
              <a:path w="10555" h="12004" extrusionOk="0">
                <a:moveTo>
                  <a:pt x="5262" y="709"/>
                </a:moveTo>
                <a:lnTo>
                  <a:pt x="9420" y="2788"/>
                </a:lnTo>
                <a:lnTo>
                  <a:pt x="8066" y="3450"/>
                </a:lnTo>
                <a:lnTo>
                  <a:pt x="5451" y="2127"/>
                </a:lnTo>
                <a:cubicBezTo>
                  <a:pt x="5403" y="2111"/>
                  <a:pt x="5348" y="2103"/>
                  <a:pt x="5293" y="2103"/>
                </a:cubicBezTo>
                <a:cubicBezTo>
                  <a:pt x="5238" y="2103"/>
                  <a:pt x="5183" y="2111"/>
                  <a:pt x="5136" y="2127"/>
                </a:cubicBezTo>
                <a:lnTo>
                  <a:pt x="2489" y="3450"/>
                </a:lnTo>
                <a:lnTo>
                  <a:pt x="1197" y="2788"/>
                </a:lnTo>
                <a:lnTo>
                  <a:pt x="5262" y="709"/>
                </a:lnTo>
                <a:close/>
                <a:moveTo>
                  <a:pt x="4915" y="3040"/>
                </a:moveTo>
                <a:lnTo>
                  <a:pt x="4915" y="6222"/>
                </a:lnTo>
                <a:lnTo>
                  <a:pt x="2804" y="7294"/>
                </a:lnTo>
                <a:lnTo>
                  <a:pt x="2804" y="4080"/>
                </a:lnTo>
                <a:lnTo>
                  <a:pt x="4915" y="3040"/>
                </a:lnTo>
                <a:close/>
                <a:moveTo>
                  <a:pt x="5640" y="3040"/>
                </a:moveTo>
                <a:lnTo>
                  <a:pt x="7750" y="4080"/>
                </a:lnTo>
                <a:lnTo>
                  <a:pt x="7750" y="7294"/>
                </a:lnTo>
                <a:lnTo>
                  <a:pt x="5640" y="6222"/>
                </a:lnTo>
                <a:lnTo>
                  <a:pt x="5640" y="3040"/>
                </a:lnTo>
                <a:close/>
                <a:moveTo>
                  <a:pt x="5262" y="6758"/>
                </a:moveTo>
                <a:lnTo>
                  <a:pt x="7278" y="7798"/>
                </a:lnTo>
                <a:lnTo>
                  <a:pt x="5262" y="8806"/>
                </a:lnTo>
                <a:lnTo>
                  <a:pt x="3277" y="7798"/>
                </a:lnTo>
                <a:lnTo>
                  <a:pt x="5262" y="6758"/>
                </a:lnTo>
                <a:close/>
                <a:moveTo>
                  <a:pt x="725" y="3372"/>
                </a:moveTo>
                <a:lnTo>
                  <a:pt x="2111" y="4080"/>
                </a:lnTo>
                <a:lnTo>
                  <a:pt x="2111" y="7829"/>
                </a:lnTo>
                <a:cubicBezTo>
                  <a:pt x="2111" y="7955"/>
                  <a:pt x="2206" y="8081"/>
                  <a:pt x="2332" y="8113"/>
                </a:cubicBezTo>
                <a:lnTo>
                  <a:pt x="4915" y="9404"/>
                </a:lnTo>
                <a:lnTo>
                  <a:pt x="4915" y="10980"/>
                </a:lnTo>
                <a:lnTo>
                  <a:pt x="725" y="8869"/>
                </a:lnTo>
                <a:lnTo>
                  <a:pt x="725" y="3372"/>
                </a:lnTo>
                <a:close/>
                <a:moveTo>
                  <a:pt x="9861" y="3387"/>
                </a:moveTo>
                <a:lnTo>
                  <a:pt x="9861" y="8932"/>
                </a:lnTo>
                <a:lnTo>
                  <a:pt x="5640" y="11011"/>
                </a:lnTo>
                <a:lnTo>
                  <a:pt x="5640" y="9436"/>
                </a:lnTo>
                <a:lnTo>
                  <a:pt x="8223" y="8144"/>
                </a:lnTo>
                <a:cubicBezTo>
                  <a:pt x="8349" y="8113"/>
                  <a:pt x="8412" y="7987"/>
                  <a:pt x="8412" y="7829"/>
                </a:cubicBezTo>
                <a:lnTo>
                  <a:pt x="8412" y="4080"/>
                </a:lnTo>
                <a:lnTo>
                  <a:pt x="9861" y="3387"/>
                </a:lnTo>
                <a:close/>
                <a:moveTo>
                  <a:pt x="5262" y="0"/>
                </a:moveTo>
                <a:cubicBezTo>
                  <a:pt x="5206" y="0"/>
                  <a:pt x="5151" y="16"/>
                  <a:pt x="5104" y="47"/>
                </a:cubicBezTo>
                <a:lnTo>
                  <a:pt x="284" y="2473"/>
                </a:lnTo>
                <a:cubicBezTo>
                  <a:pt x="63" y="2536"/>
                  <a:pt x="0" y="2662"/>
                  <a:pt x="0" y="2820"/>
                </a:cubicBezTo>
                <a:lnTo>
                  <a:pt x="0" y="9152"/>
                </a:lnTo>
                <a:cubicBezTo>
                  <a:pt x="0" y="9278"/>
                  <a:pt x="63" y="9404"/>
                  <a:pt x="189" y="9499"/>
                </a:cubicBezTo>
                <a:lnTo>
                  <a:pt x="5104" y="11956"/>
                </a:lnTo>
                <a:cubicBezTo>
                  <a:pt x="5151" y="11988"/>
                  <a:pt x="5206" y="12003"/>
                  <a:pt x="5262" y="12003"/>
                </a:cubicBezTo>
                <a:cubicBezTo>
                  <a:pt x="5317" y="12003"/>
                  <a:pt x="5372" y="11988"/>
                  <a:pt x="5419" y="11956"/>
                </a:cubicBezTo>
                <a:lnTo>
                  <a:pt x="10365" y="9499"/>
                </a:lnTo>
                <a:cubicBezTo>
                  <a:pt x="10460" y="9404"/>
                  <a:pt x="10554" y="9278"/>
                  <a:pt x="10554" y="9152"/>
                </a:cubicBezTo>
                <a:lnTo>
                  <a:pt x="10554" y="2788"/>
                </a:lnTo>
                <a:cubicBezTo>
                  <a:pt x="10554" y="2662"/>
                  <a:pt x="10460" y="2568"/>
                  <a:pt x="10365" y="2505"/>
                </a:cubicBezTo>
                <a:lnTo>
                  <a:pt x="5419" y="47"/>
                </a:lnTo>
                <a:cubicBezTo>
                  <a:pt x="5372" y="16"/>
                  <a:pt x="5317" y="0"/>
                  <a:pt x="52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Workplace Goals and Objectives: Types ...">
            <a:extLst>
              <a:ext uri="{FF2B5EF4-FFF2-40B4-BE49-F238E27FC236}">
                <a16:creationId xmlns:a16="http://schemas.microsoft.com/office/drawing/2014/main" id="{D586D388-94F1-8FF8-8A9B-B09AACF9F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015" y="1871443"/>
            <a:ext cx="3003839" cy="2181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27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Technologies Used</a:t>
            </a:r>
            <a:endParaRPr b="1" dirty="0"/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4"/>
          </p:nvPr>
        </p:nvSpPr>
        <p:spPr>
          <a:xfrm>
            <a:off x="1091253" y="1506432"/>
            <a:ext cx="1950547" cy="11980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 dirty="0"/>
              <a:t>Programming Language:</a:t>
            </a:r>
          </a:p>
          <a:p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/>
              <a:t>Python</a:t>
            </a:r>
          </a:p>
        </p:txBody>
      </p:sp>
      <p:sp>
        <p:nvSpPr>
          <p:cNvPr id="317" name="Google Shape;317;p35"/>
          <p:cNvSpPr txBox="1">
            <a:spLocks noGrp="1"/>
          </p:cNvSpPr>
          <p:nvPr>
            <p:ph type="subTitle" idx="5"/>
          </p:nvPr>
        </p:nvSpPr>
        <p:spPr>
          <a:xfrm>
            <a:off x="3576494" y="1469197"/>
            <a:ext cx="2189400" cy="21186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Libraries Used: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Pandas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Pytrends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Matplotlib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Seaborn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Prophet</a:t>
            </a:r>
          </a:p>
        </p:txBody>
      </p:sp>
      <p:sp>
        <p:nvSpPr>
          <p:cNvPr id="321" name="Google Shape;321;p35"/>
          <p:cNvSpPr txBox="1">
            <a:spLocks noGrp="1"/>
          </p:cNvSpPr>
          <p:nvPr>
            <p:ph type="subTitle" idx="6"/>
          </p:nvPr>
        </p:nvSpPr>
        <p:spPr>
          <a:xfrm>
            <a:off x="6300588" y="1492444"/>
            <a:ext cx="2276244" cy="14212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Tools Used: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Jupyter Notebook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GitHub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PowerPoint</a:t>
            </a:r>
          </a:p>
        </p:txBody>
      </p:sp>
      <p:grpSp>
        <p:nvGrpSpPr>
          <p:cNvPr id="8" name="Google Shape;8295;p61">
            <a:extLst>
              <a:ext uri="{FF2B5EF4-FFF2-40B4-BE49-F238E27FC236}">
                <a16:creationId xmlns:a16="http://schemas.microsoft.com/office/drawing/2014/main" id="{FE16473B-50E3-B07C-8E03-1F1C0E4602DA}"/>
              </a:ext>
            </a:extLst>
          </p:cNvPr>
          <p:cNvGrpSpPr/>
          <p:nvPr/>
        </p:nvGrpSpPr>
        <p:grpSpPr>
          <a:xfrm>
            <a:off x="6002231" y="1469197"/>
            <a:ext cx="340168" cy="340168"/>
            <a:chOff x="2676100" y="832575"/>
            <a:chExt cx="483125" cy="483125"/>
          </a:xfrm>
          <a:solidFill>
            <a:schemeClr val="accent2"/>
          </a:solidFill>
        </p:grpSpPr>
        <p:sp>
          <p:nvSpPr>
            <p:cNvPr id="9" name="Google Shape;8296;p61">
              <a:extLst>
                <a:ext uri="{FF2B5EF4-FFF2-40B4-BE49-F238E27FC236}">
                  <a16:creationId xmlns:a16="http://schemas.microsoft.com/office/drawing/2014/main" id="{30C48708-0CD6-4446-57EE-8B10192D692C}"/>
                </a:ext>
              </a:extLst>
            </p:cNvPr>
            <p:cNvSpPr/>
            <p:nvPr/>
          </p:nvSpPr>
          <p:spPr>
            <a:xfrm>
              <a:off x="2676100" y="83257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0351" y="1132"/>
                  </a:moveTo>
                  <a:lnTo>
                    <a:pt x="10562" y="2008"/>
                  </a:lnTo>
                  <a:cubicBezTo>
                    <a:pt x="10614" y="2226"/>
                    <a:pt x="10789" y="2392"/>
                    <a:pt x="11009" y="2434"/>
                  </a:cubicBezTo>
                  <a:cubicBezTo>
                    <a:pt x="12021" y="2618"/>
                    <a:pt x="12981" y="3014"/>
                    <a:pt x="13826" y="3596"/>
                  </a:cubicBezTo>
                  <a:cubicBezTo>
                    <a:pt x="13922" y="3663"/>
                    <a:pt x="14033" y="3696"/>
                    <a:pt x="14146" y="3696"/>
                  </a:cubicBezTo>
                  <a:cubicBezTo>
                    <a:pt x="14247" y="3696"/>
                    <a:pt x="14349" y="3669"/>
                    <a:pt x="14439" y="3614"/>
                  </a:cubicBezTo>
                  <a:lnTo>
                    <a:pt x="15179" y="3171"/>
                  </a:lnTo>
                  <a:lnTo>
                    <a:pt x="16154" y="4146"/>
                  </a:lnTo>
                  <a:lnTo>
                    <a:pt x="15711" y="4889"/>
                  </a:lnTo>
                  <a:cubicBezTo>
                    <a:pt x="15596" y="5079"/>
                    <a:pt x="15602" y="5317"/>
                    <a:pt x="15729" y="5499"/>
                  </a:cubicBezTo>
                  <a:cubicBezTo>
                    <a:pt x="16311" y="6344"/>
                    <a:pt x="16707" y="7304"/>
                    <a:pt x="16891" y="8316"/>
                  </a:cubicBezTo>
                  <a:cubicBezTo>
                    <a:pt x="16933" y="8536"/>
                    <a:pt x="17100" y="8711"/>
                    <a:pt x="17317" y="8763"/>
                  </a:cubicBezTo>
                  <a:lnTo>
                    <a:pt x="18193" y="8974"/>
                  </a:lnTo>
                  <a:lnTo>
                    <a:pt x="18193" y="10351"/>
                  </a:lnTo>
                  <a:lnTo>
                    <a:pt x="17317" y="10562"/>
                  </a:lnTo>
                  <a:cubicBezTo>
                    <a:pt x="17100" y="10614"/>
                    <a:pt x="16933" y="10789"/>
                    <a:pt x="16894" y="11009"/>
                  </a:cubicBezTo>
                  <a:cubicBezTo>
                    <a:pt x="16710" y="12021"/>
                    <a:pt x="16311" y="12981"/>
                    <a:pt x="15729" y="13826"/>
                  </a:cubicBezTo>
                  <a:cubicBezTo>
                    <a:pt x="15605" y="14007"/>
                    <a:pt x="15596" y="14246"/>
                    <a:pt x="15711" y="14436"/>
                  </a:cubicBezTo>
                  <a:lnTo>
                    <a:pt x="16154" y="15179"/>
                  </a:lnTo>
                  <a:lnTo>
                    <a:pt x="15179" y="16154"/>
                  </a:lnTo>
                  <a:lnTo>
                    <a:pt x="14439" y="15710"/>
                  </a:lnTo>
                  <a:cubicBezTo>
                    <a:pt x="14349" y="15656"/>
                    <a:pt x="14247" y="15629"/>
                    <a:pt x="14146" y="15629"/>
                  </a:cubicBezTo>
                  <a:cubicBezTo>
                    <a:pt x="14033" y="15629"/>
                    <a:pt x="13922" y="15662"/>
                    <a:pt x="13826" y="15729"/>
                  </a:cubicBezTo>
                  <a:cubicBezTo>
                    <a:pt x="12981" y="16311"/>
                    <a:pt x="12021" y="16707"/>
                    <a:pt x="11009" y="16891"/>
                  </a:cubicBezTo>
                  <a:cubicBezTo>
                    <a:pt x="10789" y="16933"/>
                    <a:pt x="10614" y="17099"/>
                    <a:pt x="10562" y="17317"/>
                  </a:cubicBezTo>
                  <a:lnTo>
                    <a:pt x="10351" y="18192"/>
                  </a:lnTo>
                  <a:lnTo>
                    <a:pt x="8974" y="18192"/>
                  </a:lnTo>
                  <a:lnTo>
                    <a:pt x="8763" y="17317"/>
                  </a:lnTo>
                  <a:cubicBezTo>
                    <a:pt x="8712" y="17099"/>
                    <a:pt x="8536" y="16933"/>
                    <a:pt x="8316" y="16891"/>
                  </a:cubicBezTo>
                  <a:cubicBezTo>
                    <a:pt x="7304" y="16707"/>
                    <a:pt x="6344" y="16311"/>
                    <a:pt x="5499" y="15729"/>
                  </a:cubicBezTo>
                  <a:cubicBezTo>
                    <a:pt x="5404" y="15662"/>
                    <a:pt x="5293" y="15629"/>
                    <a:pt x="5181" y="15629"/>
                  </a:cubicBezTo>
                  <a:cubicBezTo>
                    <a:pt x="5081" y="15629"/>
                    <a:pt x="4979" y="15656"/>
                    <a:pt x="4889" y="15710"/>
                  </a:cubicBezTo>
                  <a:lnTo>
                    <a:pt x="4146" y="16154"/>
                  </a:lnTo>
                  <a:lnTo>
                    <a:pt x="3171" y="15179"/>
                  </a:lnTo>
                  <a:lnTo>
                    <a:pt x="3615" y="14436"/>
                  </a:lnTo>
                  <a:cubicBezTo>
                    <a:pt x="3729" y="14246"/>
                    <a:pt x="3723" y="14007"/>
                    <a:pt x="3597" y="13826"/>
                  </a:cubicBezTo>
                  <a:cubicBezTo>
                    <a:pt x="3014" y="12981"/>
                    <a:pt x="2618" y="12021"/>
                    <a:pt x="2434" y="11009"/>
                  </a:cubicBezTo>
                  <a:cubicBezTo>
                    <a:pt x="2392" y="10789"/>
                    <a:pt x="2226" y="10614"/>
                    <a:pt x="2011" y="10562"/>
                  </a:cubicBezTo>
                  <a:lnTo>
                    <a:pt x="1133" y="10351"/>
                  </a:lnTo>
                  <a:lnTo>
                    <a:pt x="1133" y="8974"/>
                  </a:lnTo>
                  <a:lnTo>
                    <a:pt x="2008" y="8763"/>
                  </a:lnTo>
                  <a:cubicBezTo>
                    <a:pt x="2226" y="8711"/>
                    <a:pt x="2392" y="8536"/>
                    <a:pt x="2431" y="8316"/>
                  </a:cubicBezTo>
                  <a:cubicBezTo>
                    <a:pt x="2615" y="7304"/>
                    <a:pt x="3014" y="6344"/>
                    <a:pt x="3597" y="5499"/>
                  </a:cubicBezTo>
                  <a:cubicBezTo>
                    <a:pt x="3720" y="5317"/>
                    <a:pt x="3729" y="5079"/>
                    <a:pt x="3615" y="4889"/>
                  </a:cubicBezTo>
                  <a:lnTo>
                    <a:pt x="3171" y="4146"/>
                  </a:lnTo>
                  <a:lnTo>
                    <a:pt x="4146" y="3171"/>
                  </a:lnTo>
                  <a:lnTo>
                    <a:pt x="4889" y="3614"/>
                  </a:lnTo>
                  <a:cubicBezTo>
                    <a:pt x="4979" y="3669"/>
                    <a:pt x="5081" y="3696"/>
                    <a:pt x="5181" y="3696"/>
                  </a:cubicBezTo>
                  <a:cubicBezTo>
                    <a:pt x="5293" y="3696"/>
                    <a:pt x="5404" y="3663"/>
                    <a:pt x="5499" y="3596"/>
                  </a:cubicBezTo>
                  <a:cubicBezTo>
                    <a:pt x="6344" y="3014"/>
                    <a:pt x="7304" y="2618"/>
                    <a:pt x="8316" y="2434"/>
                  </a:cubicBezTo>
                  <a:cubicBezTo>
                    <a:pt x="8536" y="2392"/>
                    <a:pt x="8712" y="2226"/>
                    <a:pt x="8763" y="2008"/>
                  </a:cubicBezTo>
                  <a:lnTo>
                    <a:pt x="8974" y="1132"/>
                  </a:lnTo>
                  <a:close/>
                  <a:moveTo>
                    <a:pt x="8530" y="0"/>
                  </a:moveTo>
                  <a:cubicBezTo>
                    <a:pt x="8268" y="0"/>
                    <a:pt x="8041" y="178"/>
                    <a:pt x="7981" y="432"/>
                  </a:cubicBezTo>
                  <a:lnTo>
                    <a:pt x="7748" y="1392"/>
                  </a:lnTo>
                  <a:cubicBezTo>
                    <a:pt x="6833" y="1604"/>
                    <a:pt x="5961" y="1963"/>
                    <a:pt x="5167" y="2461"/>
                  </a:cubicBezTo>
                  <a:lnTo>
                    <a:pt x="4348" y="1969"/>
                  </a:lnTo>
                  <a:cubicBezTo>
                    <a:pt x="4260" y="1915"/>
                    <a:pt x="4160" y="1889"/>
                    <a:pt x="4061" y="1889"/>
                  </a:cubicBezTo>
                  <a:cubicBezTo>
                    <a:pt x="3913" y="1889"/>
                    <a:pt x="3767" y="1946"/>
                    <a:pt x="3657" y="2056"/>
                  </a:cubicBezTo>
                  <a:lnTo>
                    <a:pt x="2057" y="3657"/>
                  </a:lnTo>
                  <a:cubicBezTo>
                    <a:pt x="1872" y="3841"/>
                    <a:pt x="1839" y="4125"/>
                    <a:pt x="1972" y="4348"/>
                  </a:cubicBezTo>
                  <a:lnTo>
                    <a:pt x="2461" y="5163"/>
                  </a:lnTo>
                  <a:cubicBezTo>
                    <a:pt x="1963" y="5958"/>
                    <a:pt x="1604" y="6830"/>
                    <a:pt x="1395" y="7745"/>
                  </a:cubicBezTo>
                  <a:lnTo>
                    <a:pt x="435" y="7978"/>
                  </a:lnTo>
                  <a:cubicBezTo>
                    <a:pt x="179" y="8041"/>
                    <a:pt x="0" y="8267"/>
                    <a:pt x="0" y="8530"/>
                  </a:cubicBezTo>
                  <a:lnTo>
                    <a:pt x="0" y="10795"/>
                  </a:lnTo>
                  <a:cubicBezTo>
                    <a:pt x="0" y="11057"/>
                    <a:pt x="179" y="11284"/>
                    <a:pt x="432" y="11344"/>
                  </a:cubicBezTo>
                  <a:lnTo>
                    <a:pt x="1392" y="11580"/>
                  </a:lnTo>
                  <a:cubicBezTo>
                    <a:pt x="1604" y="12492"/>
                    <a:pt x="1963" y="13364"/>
                    <a:pt x="2461" y="14158"/>
                  </a:cubicBezTo>
                  <a:lnTo>
                    <a:pt x="1969" y="14977"/>
                  </a:lnTo>
                  <a:cubicBezTo>
                    <a:pt x="1836" y="15200"/>
                    <a:pt x="1872" y="15484"/>
                    <a:pt x="2057" y="15668"/>
                  </a:cubicBezTo>
                  <a:lnTo>
                    <a:pt x="3657" y="17268"/>
                  </a:lnTo>
                  <a:cubicBezTo>
                    <a:pt x="3766" y="17378"/>
                    <a:pt x="3911" y="17435"/>
                    <a:pt x="4057" y="17435"/>
                  </a:cubicBezTo>
                  <a:cubicBezTo>
                    <a:pt x="4157" y="17435"/>
                    <a:pt x="4258" y="17408"/>
                    <a:pt x="4348" y="17353"/>
                  </a:cubicBezTo>
                  <a:lnTo>
                    <a:pt x="5164" y="16864"/>
                  </a:lnTo>
                  <a:cubicBezTo>
                    <a:pt x="5958" y="17362"/>
                    <a:pt x="6830" y="17721"/>
                    <a:pt x="7745" y="17930"/>
                  </a:cubicBezTo>
                  <a:lnTo>
                    <a:pt x="7978" y="18890"/>
                  </a:lnTo>
                  <a:cubicBezTo>
                    <a:pt x="8041" y="19147"/>
                    <a:pt x="8268" y="19325"/>
                    <a:pt x="8530" y="19325"/>
                  </a:cubicBezTo>
                  <a:lnTo>
                    <a:pt x="10795" y="19325"/>
                  </a:lnTo>
                  <a:cubicBezTo>
                    <a:pt x="11058" y="19325"/>
                    <a:pt x="11284" y="19147"/>
                    <a:pt x="11344" y="18893"/>
                  </a:cubicBezTo>
                  <a:lnTo>
                    <a:pt x="11577" y="17933"/>
                  </a:lnTo>
                  <a:cubicBezTo>
                    <a:pt x="12492" y="17721"/>
                    <a:pt x="13364" y="17362"/>
                    <a:pt x="14159" y="16864"/>
                  </a:cubicBezTo>
                  <a:lnTo>
                    <a:pt x="14977" y="17356"/>
                  </a:lnTo>
                  <a:cubicBezTo>
                    <a:pt x="15066" y="17410"/>
                    <a:pt x="15166" y="17436"/>
                    <a:pt x="15266" y="17436"/>
                  </a:cubicBezTo>
                  <a:cubicBezTo>
                    <a:pt x="15413" y="17436"/>
                    <a:pt x="15559" y="17379"/>
                    <a:pt x="15668" y="17271"/>
                  </a:cubicBezTo>
                  <a:lnTo>
                    <a:pt x="17269" y="15668"/>
                  </a:lnTo>
                  <a:cubicBezTo>
                    <a:pt x="17453" y="15484"/>
                    <a:pt x="17489" y="15200"/>
                    <a:pt x="17353" y="14977"/>
                  </a:cubicBezTo>
                  <a:lnTo>
                    <a:pt x="16864" y="14161"/>
                  </a:lnTo>
                  <a:cubicBezTo>
                    <a:pt x="17362" y="13367"/>
                    <a:pt x="17722" y="12495"/>
                    <a:pt x="17930" y="11580"/>
                  </a:cubicBezTo>
                  <a:lnTo>
                    <a:pt x="18890" y="11347"/>
                  </a:lnTo>
                  <a:cubicBezTo>
                    <a:pt x="19147" y="11284"/>
                    <a:pt x="19325" y="11057"/>
                    <a:pt x="19325" y="10795"/>
                  </a:cubicBezTo>
                  <a:lnTo>
                    <a:pt x="19325" y="8530"/>
                  </a:lnTo>
                  <a:cubicBezTo>
                    <a:pt x="19325" y="8267"/>
                    <a:pt x="19147" y="8041"/>
                    <a:pt x="18893" y="7981"/>
                  </a:cubicBezTo>
                  <a:lnTo>
                    <a:pt x="17933" y="7748"/>
                  </a:lnTo>
                  <a:cubicBezTo>
                    <a:pt x="17722" y="6833"/>
                    <a:pt x="17362" y="5961"/>
                    <a:pt x="16864" y="5166"/>
                  </a:cubicBezTo>
                  <a:lnTo>
                    <a:pt x="17356" y="4348"/>
                  </a:lnTo>
                  <a:cubicBezTo>
                    <a:pt x="17489" y="4128"/>
                    <a:pt x="17453" y="3841"/>
                    <a:pt x="17272" y="3657"/>
                  </a:cubicBezTo>
                  <a:lnTo>
                    <a:pt x="15668" y="2056"/>
                  </a:lnTo>
                  <a:cubicBezTo>
                    <a:pt x="15559" y="1947"/>
                    <a:pt x="15415" y="1890"/>
                    <a:pt x="15268" y="1890"/>
                  </a:cubicBezTo>
                  <a:cubicBezTo>
                    <a:pt x="15168" y="1890"/>
                    <a:pt x="15068" y="1917"/>
                    <a:pt x="14977" y="1972"/>
                  </a:cubicBezTo>
                  <a:lnTo>
                    <a:pt x="14162" y="2461"/>
                  </a:lnTo>
                  <a:cubicBezTo>
                    <a:pt x="13367" y="1963"/>
                    <a:pt x="12495" y="1604"/>
                    <a:pt x="11580" y="1395"/>
                  </a:cubicBezTo>
                  <a:lnTo>
                    <a:pt x="11347" y="435"/>
                  </a:lnTo>
                  <a:cubicBezTo>
                    <a:pt x="11284" y="178"/>
                    <a:pt x="11058" y="0"/>
                    <a:pt x="10795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8297;p61">
              <a:extLst>
                <a:ext uri="{FF2B5EF4-FFF2-40B4-BE49-F238E27FC236}">
                  <a16:creationId xmlns:a16="http://schemas.microsoft.com/office/drawing/2014/main" id="{70C65620-291C-EA9F-B0BA-BBAC73661ED3}"/>
                </a:ext>
              </a:extLst>
            </p:cNvPr>
            <p:cNvSpPr/>
            <p:nvPr/>
          </p:nvSpPr>
          <p:spPr>
            <a:xfrm>
              <a:off x="2762000" y="918475"/>
              <a:ext cx="311400" cy="311400"/>
            </a:xfrm>
            <a:custGeom>
              <a:avLst/>
              <a:gdLst/>
              <a:ahLst/>
              <a:cxnLst/>
              <a:rect l="l" t="t" r="r" b="b"/>
              <a:pathLst>
                <a:path w="12456" h="12456" extrusionOk="0">
                  <a:moveTo>
                    <a:pt x="6227" y="1133"/>
                  </a:moveTo>
                  <a:cubicBezTo>
                    <a:pt x="9038" y="1133"/>
                    <a:pt x="11323" y="3418"/>
                    <a:pt x="11323" y="6226"/>
                  </a:cubicBezTo>
                  <a:cubicBezTo>
                    <a:pt x="11323" y="9038"/>
                    <a:pt x="9038" y="11323"/>
                    <a:pt x="6227" y="11323"/>
                  </a:cubicBezTo>
                  <a:cubicBezTo>
                    <a:pt x="3419" y="11323"/>
                    <a:pt x="1133" y="9038"/>
                    <a:pt x="1133" y="6226"/>
                  </a:cubicBezTo>
                  <a:cubicBezTo>
                    <a:pt x="1133" y="3418"/>
                    <a:pt x="3419" y="1133"/>
                    <a:pt x="6227" y="1133"/>
                  </a:cubicBezTo>
                  <a:close/>
                  <a:moveTo>
                    <a:pt x="6227" y="0"/>
                  </a:moveTo>
                  <a:cubicBezTo>
                    <a:pt x="2794" y="0"/>
                    <a:pt x="1" y="2793"/>
                    <a:pt x="1" y="6226"/>
                  </a:cubicBezTo>
                  <a:cubicBezTo>
                    <a:pt x="1" y="9663"/>
                    <a:pt x="2794" y="12456"/>
                    <a:pt x="6227" y="12456"/>
                  </a:cubicBezTo>
                  <a:cubicBezTo>
                    <a:pt x="9663" y="12456"/>
                    <a:pt x="12456" y="9663"/>
                    <a:pt x="12456" y="6226"/>
                  </a:cubicBezTo>
                  <a:cubicBezTo>
                    <a:pt x="12456" y="2793"/>
                    <a:pt x="9663" y="0"/>
                    <a:pt x="6227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8298;p61">
              <a:extLst>
                <a:ext uri="{FF2B5EF4-FFF2-40B4-BE49-F238E27FC236}">
                  <a16:creationId xmlns:a16="http://schemas.microsoft.com/office/drawing/2014/main" id="{FF25D009-B8A4-295D-90B9-BEC5EAF1CAEB}"/>
                </a:ext>
              </a:extLst>
            </p:cNvPr>
            <p:cNvSpPr/>
            <p:nvPr/>
          </p:nvSpPr>
          <p:spPr>
            <a:xfrm>
              <a:off x="2810775" y="975075"/>
              <a:ext cx="206025" cy="198150"/>
            </a:xfrm>
            <a:custGeom>
              <a:avLst/>
              <a:gdLst/>
              <a:ahLst/>
              <a:cxnLst/>
              <a:rect l="l" t="t" r="r" b="b"/>
              <a:pathLst>
                <a:path w="8241" h="7926" extrusionOk="0">
                  <a:moveTo>
                    <a:pt x="4275" y="1132"/>
                  </a:moveTo>
                  <a:cubicBezTo>
                    <a:pt x="4640" y="1132"/>
                    <a:pt x="5009" y="1203"/>
                    <a:pt x="5360" y="1348"/>
                  </a:cubicBezTo>
                  <a:cubicBezTo>
                    <a:pt x="6416" y="1785"/>
                    <a:pt x="7108" y="2818"/>
                    <a:pt x="7108" y="3962"/>
                  </a:cubicBezTo>
                  <a:cubicBezTo>
                    <a:pt x="7105" y="5527"/>
                    <a:pt x="5840" y="6792"/>
                    <a:pt x="4276" y="6795"/>
                  </a:cubicBezTo>
                  <a:cubicBezTo>
                    <a:pt x="3131" y="6795"/>
                    <a:pt x="2099" y="6103"/>
                    <a:pt x="1661" y="5046"/>
                  </a:cubicBezTo>
                  <a:cubicBezTo>
                    <a:pt x="1223" y="3987"/>
                    <a:pt x="1465" y="2770"/>
                    <a:pt x="2274" y="1961"/>
                  </a:cubicBezTo>
                  <a:cubicBezTo>
                    <a:pt x="2815" y="1419"/>
                    <a:pt x="3538" y="1132"/>
                    <a:pt x="4275" y="1132"/>
                  </a:cubicBezTo>
                  <a:close/>
                  <a:moveTo>
                    <a:pt x="4276" y="1"/>
                  </a:moveTo>
                  <a:cubicBezTo>
                    <a:pt x="2672" y="1"/>
                    <a:pt x="1229" y="964"/>
                    <a:pt x="613" y="2447"/>
                  </a:cubicBezTo>
                  <a:cubicBezTo>
                    <a:pt x="0" y="3926"/>
                    <a:pt x="341" y="5632"/>
                    <a:pt x="1474" y="6764"/>
                  </a:cubicBezTo>
                  <a:cubicBezTo>
                    <a:pt x="2232" y="7523"/>
                    <a:pt x="3247" y="7926"/>
                    <a:pt x="4279" y="7926"/>
                  </a:cubicBezTo>
                  <a:cubicBezTo>
                    <a:pt x="4789" y="7926"/>
                    <a:pt x="5302" y="7828"/>
                    <a:pt x="5791" y="7625"/>
                  </a:cubicBezTo>
                  <a:cubicBezTo>
                    <a:pt x="7274" y="7009"/>
                    <a:pt x="8240" y="5566"/>
                    <a:pt x="8240" y="3962"/>
                  </a:cubicBezTo>
                  <a:cubicBezTo>
                    <a:pt x="8237" y="1773"/>
                    <a:pt x="6465" y="1"/>
                    <a:pt x="4276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" name="Google Shape;8640;p62">
            <a:extLst>
              <a:ext uri="{FF2B5EF4-FFF2-40B4-BE49-F238E27FC236}">
                <a16:creationId xmlns:a16="http://schemas.microsoft.com/office/drawing/2014/main" id="{40A16620-6F56-C48A-4FE1-52B2F9F0B56E}"/>
              </a:ext>
            </a:extLst>
          </p:cNvPr>
          <p:cNvGrpSpPr/>
          <p:nvPr/>
        </p:nvGrpSpPr>
        <p:grpSpPr>
          <a:xfrm>
            <a:off x="670886" y="1513938"/>
            <a:ext cx="373736" cy="293055"/>
            <a:chOff x="-41694200" y="2382950"/>
            <a:chExt cx="317425" cy="248900"/>
          </a:xfrm>
          <a:solidFill>
            <a:schemeClr val="accent2"/>
          </a:solidFill>
        </p:grpSpPr>
        <p:sp>
          <p:nvSpPr>
            <p:cNvPr id="13" name="Google Shape;8641;p62">
              <a:extLst>
                <a:ext uri="{FF2B5EF4-FFF2-40B4-BE49-F238E27FC236}">
                  <a16:creationId xmlns:a16="http://schemas.microsoft.com/office/drawing/2014/main" id="{AF29DB78-3AAF-F1DC-2D5C-11B787670ED6}"/>
                </a:ext>
              </a:extLst>
            </p:cNvPr>
            <p:cNvSpPr/>
            <p:nvPr/>
          </p:nvSpPr>
          <p:spPr>
            <a:xfrm>
              <a:off x="-41694200" y="2382950"/>
              <a:ext cx="317425" cy="248900"/>
            </a:xfrm>
            <a:custGeom>
              <a:avLst/>
              <a:gdLst/>
              <a:ahLst/>
              <a:cxnLst/>
              <a:rect l="l" t="t" r="r" b="b"/>
              <a:pathLst>
                <a:path w="12697" h="9956" extrusionOk="0">
                  <a:moveTo>
                    <a:pt x="10555" y="851"/>
                  </a:moveTo>
                  <a:cubicBezTo>
                    <a:pt x="10807" y="851"/>
                    <a:pt x="10964" y="1040"/>
                    <a:pt x="10964" y="1292"/>
                  </a:cubicBezTo>
                  <a:lnTo>
                    <a:pt x="10964" y="7499"/>
                  </a:lnTo>
                  <a:lnTo>
                    <a:pt x="1576" y="7499"/>
                  </a:lnTo>
                  <a:lnTo>
                    <a:pt x="1576" y="1292"/>
                  </a:lnTo>
                  <a:lnTo>
                    <a:pt x="1607" y="1292"/>
                  </a:lnTo>
                  <a:cubicBezTo>
                    <a:pt x="1607" y="1040"/>
                    <a:pt x="1828" y="882"/>
                    <a:pt x="2017" y="851"/>
                  </a:cubicBezTo>
                  <a:close/>
                  <a:moveTo>
                    <a:pt x="8507" y="8286"/>
                  </a:moveTo>
                  <a:lnTo>
                    <a:pt x="8507" y="8727"/>
                  </a:lnTo>
                  <a:cubicBezTo>
                    <a:pt x="8507" y="8918"/>
                    <a:pt x="8633" y="9073"/>
                    <a:pt x="8777" y="9137"/>
                  </a:cubicBezTo>
                  <a:lnTo>
                    <a:pt x="1198" y="9137"/>
                  </a:lnTo>
                  <a:cubicBezTo>
                    <a:pt x="1009" y="9137"/>
                    <a:pt x="851" y="9011"/>
                    <a:pt x="788" y="8853"/>
                  </a:cubicBezTo>
                  <a:cubicBezTo>
                    <a:pt x="757" y="8759"/>
                    <a:pt x="788" y="8759"/>
                    <a:pt x="788" y="8286"/>
                  </a:cubicBezTo>
                  <a:close/>
                  <a:moveTo>
                    <a:pt x="10145" y="8286"/>
                  </a:moveTo>
                  <a:lnTo>
                    <a:pt x="10145" y="8727"/>
                  </a:lnTo>
                  <a:cubicBezTo>
                    <a:pt x="10145" y="8918"/>
                    <a:pt x="10254" y="9073"/>
                    <a:pt x="10402" y="9137"/>
                  </a:cubicBezTo>
                  <a:lnTo>
                    <a:pt x="9051" y="9137"/>
                  </a:lnTo>
                  <a:cubicBezTo>
                    <a:pt x="9186" y="9073"/>
                    <a:pt x="9294" y="8918"/>
                    <a:pt x="9294" y="8727"/>
                  </a:cubicBezTo>
                  <a:lnTo>
                    <a:pt x="9294" y="8286"/>
                  </a:lnTo>
                  <a:close/>
                  <a:moveTo>
                    <a:pt x="11783" y="8286"/>
                  </a:moveTo>
                  <a:lnTo>
                    <a:pt x="11783" y="8727"/>
                  </a:lnTo>
                  <a:cubicBezTo>
                    <a:pt x="11815" y="8979"/>
                    <a:pt x="11626" y="9137"/>
                    <a:pt x="11374" y="9137"/>
                  </a:cubicBezTo>
                  <a:lnTo>
                    <a:pt x="10720" y="9137"/>
                  </a:lnTo>
                  <a:cubicBezTo>
                    <a:pt x="10874" y="9073"/>
                    <a:pt x="10964" y="8918"/>
                    <a:pt x="10964" y="8727"/>
                  </a:cubicBezTo>
                  <a:lnTo>
                    <a:pt x="10964" y="8286"/>
                  </a:lnTo>
                  <a:close/>
                  <a:moveTo>
                    <a:pt x="2048" y="0"/>
                  </a:moveTo>
                  <a:cubicBezTo>
                    <a:pt x="1387" y="0"/>
                    <a:pt x="788" y="536"/>
                    <a:pt x="820" y="1261"/>
                  </a:cubicBezTo>
                  <a:lnTo>
                    <a:pt x="820" y="7467"/>
                  </a:lnTo>
                  <a:lnTo>
                    <a:pt x="347" y="7467"/>
                  </a:lnTo>
                  <a:cubicBezTo>
                    <a:pt x="158" y="7467"/>
                    <a:pt x="0" y="7625"/>
                    <a:pt x="0" y="7814"/>
                  </a:cubicBezTo>
                  <a:lnTo>
                    <a:pt x="0" y="8696"/>
                  </a:lnTo>
                  <a:cubicBezTo>
                    <a:pt x="0" y="9357"/>
                    <a:pt x="568" y="9956"/>
                    <a:pt x="1229" y="9956"/>
                  </a:cubicBezTo>
                  <a:lnTo>
                    <a:pt x="11437" y="9956"/>
                  </a:lnTo>
                  <a:cubicBezTo>
                    <a:pt x="12098" y="9956"/>
                    <a:pt x="12697" y="9389"/>
                    <a:pt x="12697" y="8696"/>
                  </a:cubicBezTo>
                  <a:lnTo>
                    <a:pt x="12697" y="7877"/>
                  </a:lnTo>
                  <a:cubicBezTo>
                    <a:pt x="12634" y="7656"/>
                    <a:pt x="12445" y="7467"/>
                    <a:pt x="12224" y="7467"/>
                  </a:cubicBezTo>
                  <a:lnTo>
                    <a:pt x="11815" y="7467"/>
                  </a:lnTo>
                  <a:lnTo>
                    <a:pt x="11815" y="1261"/>
                  </a:lnTo>
                  <a:cubicBezTo>
                    <a:pt x="11815" y="567"/>
                    <a:pt x="11279" y="0"/>
                    <a:pt x="10586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642;p62">
              <a:extLst>
                <a:ext uri="{FF2B5EF4-FFF2-40B4-BE49-F238E27FC236}">
                  <a16:creationId xmlns:a16="http://schemas.microsoft.com/office/drawing/2014/main" id="{BF5DABC6-E75B-ED76-40A9-F29B09751BDA}"/>
                </a:ext>
              </a:extLst>
            </p:cNvPr>
            <p:cNvSpPr/>
            <p:nvPr/>
          </p:nvSpPr>
          <p:spPr>
            <a:xfrm>
              <a:off x="-41586600" y="2425550"/>
              <a:ext cx="107450" cy="102925"/>
            </a:xfrm>
            <a:custGeom>
              <a:avLst/>
              <a:gdLst/>
              <a:ahLst/>
              <a:cxnLst/>
              <a:rect l="l" t="t" r="r" b="b"/>
              <a:pathLst>
                <a:path w="4298" h="4117" extrusionOk="0">
                  <a:moveTo>
                    <a:pt x="1147" y="1037"/>
                  </a:moveTo>
                  <a:lnTo>
                    <a:pt x="2218" y="1384"/>
                  </a:lnTo>
                  <a:lnTo>
                    <a:pt x="1493" y="2108"/>
                  </a:lnTo>
                  <a:lnTo>
                    <a:pt x="1147" y="1037"/>
                  </a:lnTo>
                  <a:close/>
                  <a:moveTo>
                    <a:pt x="466" y="1"/>
                  </a:moveTo>
                  <a:cubicBezTo>
                    <a:pt x="209" y="1"/>
                    <a:pt x="1" y="267"/>
                    <a:pt x="107" y="533"/>
                  </a:cubicBezTo>
                  <a:lnTo>
                    <a:pt x="926" y="3022"/>
                  </a:lnTo>
                  <a:cubicBezTo>
                    <a:pt x="987" y="3184"/>
                    <a:pt x="1164" y="3293"/>
                    <a:pt x="1341" y="3293"/>
                  </a:cubicBezTo>
                  <a:cubicBezTo>
                    <a:pt x="1441" y="3293"/>
                    <a:pt x="1540" y="3259"/>
                    <a:pt x="1619" y="3180"/>
                  </a:cubicBezTo>
                  <a:lnTo>
                    <a:pt x="2155" y="2613"/>
                  </a:lnTo>
                  <a:lnTo>
                    <a:pt x="3541" y="3999"/>
                  </a:lnTo>
                  <a:cubicBezTo>
                    <a:pt x="3620" y="4077"/>
                    <a:pt x="3730" y="4117"/>
                    <a:pt x="3840" y="4117"/>
                  </a:cubicBezTo>
                  <a:cubicBezTo>
                    <a:pt x="3951" y="4117"/>
                    <a:pt x="4061" y="4077"/>
                    <a:pt x="4140" y="3999"/>
                  </a:cubicBezTo>
                  <a:cubicBezTo>
                    <a:pt x="4297" y="3841"/>
                    <a:pt x="4297" y="3558"/>
                    <a:pt x="4140" y="3400"/>
                  </a:cubicBezTo>
                  <a:lnTo>
                    <a:pt x="2722" y="2077"/>
                  </a:lnTo>
                  <a:lnTo>
                    <a:pt x="3258" y="1510"/>
                  </a:lnTo>
                  <a:cubicBezTo>
                    <a:pt x="3510" y="1289"/>
                    <a:pt x="3384" y="911"/>
                    <a:pt x="3100" y="848"/>
                  </a:cubicBezTo>
                  <a:lnTo>
                    <a:pt x="611" y="29"/>
                  </a:lnTo>
                  <a:cubicBezTo>
                    <a:pt x="562" y="10"/>
                    <a:pt x="514" y="1"/>
                    <a:pt x="466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9806;p65">
            <a:extLst>
              <a:ext uri="{FF2B5EF4-FFF2-40B4-BE49-F238E27FC236}">
                <a16:creationId xmlns:a16="http://schemas.microsoft.com/office/drawing/2014/main" id="{E35E71E8-69DB-D8C3-81B3-54FDB766D2C1}"/>
              </a:ext>
            </a:extLst>
          </p:cNvPr>
          <p:cNvGrpSpPr/>
          <p:nvPr/>
        </p:nvGrpSpPr>
        <p:grpSpPr>
          <a:xfrm>
            <a:off x="3387010" y="1448764"/>
            <a:ext cx="295237" cy="358229"/>
            <a:chOff x="-45270025" y="2701925"/>
            <a:chExt cx="247350" cy="300125"/>
          </a:xfrm>
          <a:solidFill>
            <a:schemeClr val="accent2"/>
          </a:solidFill>
        </p:grpSpPr>
        <p:sp>
          <p:nvSpPr>
            <p:cNvPr id="16" name="Google Shape;9807;p65">
              <a:extLst>
                <a:ext uri="{FF2B5EF4-FFF2-40B4-BE49-F238E27FC236}">
                  <a16:creationId xmlns:a16="http://schemas.microsoft.com/office/drawing/2014/main" id="{D2C2736A-6388-0007-FAF0-A0050B8974F8}"/>
                </a:ext>
              </a:extLst>
            </p:cNvPr>
            <p:cNvSpPr/>
            <p:nvPr/>
          </p:nvSpPr>
          <p:spPr>
            <a:xfrm>
              <a:off x="-45128250" y="28437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08;p65">
              <a:extLst>
                <a:ext uri="{FF2B5EF4-FFF2-40B4-BE49-F238E27FC236}">
                  <a16:creationId xmlns:a16="http://schemas.microsoft.com/office/drawing/2014/main" id="{53C8B63B-ED93-9713-AE16-B26BEA06D9B9}"/>
                </a:ext>
              </a:extLst>
            </p:cNvPr>
            <p:cNvSpPr/>
            <p:nvPr/>
          </p:nvSpPr>
          <p:spPr>
            <a:xfrm>
              <a:off x="-45270025" y="2701925"/>
              <a:ext cx="247350" cy="300125"/>
            </a:xfrm>
            <a:custGeom>
              <a:avLst/>
              <a:gdLst/>
              <a:ahLst/>
              <a:cxnLst/>
              <a:rect l="l" t="t" r="r" b="b"/>
              <a:pathLst>
                <a:path w="9894" h="12005" extrusionOk="0">
                  <a:moveTo>
                    <a:pt x="7751" y="1261"/>
                  </a:moveTo>
                  <a:lnTo>
                    <a:pt x="8665" y="2143"/>
                  </a:lnTo>
                  <a:lnTo>
                    <a:pt x="7751" y="2143"/>
                  </a:lnTo>
                  <a:lnTo>
                    <a:pt x="7751" y="1261"/>
                  </a:lnTo>
                  <a:close/>
                  <a:moveTo>
                    <a:pt x="7090" y="4979"/>
                  </a:moveTo>
                  <a:lnTo>
                    <a:pt x="7090" y="9925"/>
                  </a:lnTo>
                  <a:lnTo>
                    <a:pt x="757" y="9925"/>
                  </a:lnTo>
                  <a:lnTo>
                    <a:pt x="757" y="4979"/>
                  </a:lnTo>
                  <a:close/>
                  <a:moveTo>
                    <a:pt x="7090" y="725"/>
                  </a:moveTo>
                  <a:lnTo>
                    <a:pt x="7090" y="2521"/>
                  </a:lnTo>
                  <a:cubicBezTo>
                    <a:pt x="7090" y="2710"/>
                    <a:pt x="7247" y="2868"/>
                    <a:pt x="7436" y="2868"/>
                  </a:cubicBezTo>
                  <a:lnTo>
                    <a:pt x="9232" y="2868"/>
                  </a:lnTo>
                  <a:lnTo>
                    <a:pt x="9232" y="11343"/>
                  </a:lnTo>
                  <a:lnTo>
                    <a:pt x="1450" y="11343"/>
                  </a:lnTo>
                  <a:lnTo>
                    <a:pt x="1450" y="10618"/>
                  </a:lnTo>
                  <a:lnTo>
                    <a:pt x="7436" y="10618"/>
                  </a:lnTo>
                  <a:cubicBezTo>
                    <a:pt x="7657" y="10618"/>
                    <a:pt x="7814" y="10460"/>
                    <a:pt x="7814" y="10271"/>
                  </a:cubicBezTo>
                  <a:lnTo>
                    <a:pt x="7814" y="4632"/>
                  </a:lnTo>
                  <a:cubicBezTo>
                    <a:pt x="7814" y="4443"/>
                    <a:pt x="7657" y="4285"/>
                    <a:pt x="7436" y="4285"/>
                  </a:cubicBezTo>
                  <a:lnTo>
                    <a:pt x="1450" y="4285"/>
                  </a:lnTo>
                  <a:lnTo>
                    <a:pt x="1450" y="725"/>
                  </a:lnTo>
                  <a:close/>
                  <a:moveTo>
                    <a:pt x="1072" y="1"/>
                  </a:moveTo>
                  <a:cubicBezTo>
                    <a:pt x="883" y="1"/>
                    <a:pt x="726" y="158"/>
                    <a:pt x="726" y="347"/>
                  </a:cubicBezTo>
                  <a:lnTo>
                    <a:pt x="726" y="4254"/>
                  </a:lnTo>
                  <a:lnTo>
                    <a:pt x="379" y="4254"/>
                  </a:lnTo>
                  <a:cubicBezTo>
                    <a:pt x="158" y="4254"/>
                    <a:pt x="1" y="4411"/>
                    <a:pt x="1" y="4601"/>
                  </a:cubicBezTo>
                  <a:lnTo>
                    <a:pt x="1" y="10240"/>
                  </a:lnTo>
                  <a:cubicBezTo>
                    <a:pt x="1" y="10429"/>
                    <a:pt x="158" y="10586"/>
                    <a:pt x="379" y="10586"/>
                  </a:cubicBezTo>
                  <a:lnTo>
                    <a:pt x="726" y="10586"/>
                  </a:lnTo>
                  <a:lnTo>
                    <a:pt x="726" y="11658"/>
                  </a:lnTo>
                  <a:cubicBezTo>
                    <a:pt x="726" y="11847"/>
                    <a:pt x="883" y="12004"/>
                    <a:pt x="1072" y="12004"/>
                  </a:cubicBezTo>
                  <a:lnTo>
                    <a:pt x="9484" y="12004"/>
                  </a:lnTo>
                  <a:cubicBezTo>
                    <a:pt x="9704" y="12004"/>
                    <a:pt x="9862" y="11847"/>
                    <a:pt x="9862" y="11658"/>
                  </a:cubicBezTo>
                  <a:lnTo>
                    <a:pt x="9893" y="2458"/>
                  </a:lnTo>
                  <a:cubicBezTo>
                    <a:pt x="9893" y="2395"/>
                    <a:pt x="9862" y="2269"/>
                    <a:pt x="9767" y="2238"/>
                  </a:cubicBezTo>
                  <a:lnTo>
                    <a:pt x="7657" y="95"/>
                  </a:lnTo>
                  <a:cubicBezTo>
                    <a:pt x="7562" y="32"/>
                    <a:pt x="7499" y="1"/>
                    <a:pt x="7405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09;p65">
              <a:extLst>
                <a:ext uri="{FF2B5EF4-FFF2-40B4-BE49-F238E27FC236}">
                  <a16:creationId xmlns:a16="http://schemas.microsoft.com/office/drawing/2014/main" id="{AFE9DAD6-1B3C-17CB-92F8-E988DDD49083}"/>
                </a:ext>
              </a:extLst>
            </p:cNvPr>
            <p:cNvSpPr/>
            <p:nvPr/>
          </p:nvSpPr>
          <p:spPr>
            <a:xfrm>
              <a:off x="-45235350" y="2844500"/>
              <a:ext cx="89800" cy="87450"/>
            </a:xfrm>
            <a:custGeom>
              <a:avLst/>
              <a:gdLst/>
              <a:ahLst/>
              <a:cxnLst/>
              <a:rect l="l" t="t" r="r" b="b"/>
              <a:pathLst>
                <a:path w="3592" h="3498" extrusionOk="0">
                  <a:moveTo>
                    <a:pt x="1796" y="1103"/>
                  </a:moveTo>
                  <a:lnTo>
                    <a:pt x="2268" y="2079"/>
                  </a:lnTo>
                  <a:lnTo>
                    <a:pt x="1292" y="2079"/>
                  </a:lnTo>
                  <a:lnTo>
                    <a:pt x="1796" y="1103"/>
                  </a:lnTo>
                  <a:close/>
                  <a:moveTo>
                    <a:pt x="1764" y="0"/>
                  </a:moveTo>
                  <a:cubicBezTo>
                    <a:pt x="1638" y="0"/>
                    <a:pt x="1544" y="63"/>
                    <a:pt x="1449" y="189"/>
                  </a:cubicBezTo>
                  <a:lnTo>
                    <a:pt x="32" y="2993"/>
                  </a:lnTo>
                  <a:cubicBezTo>
                    <a:pt x="0" y="3151"/>
                    <a:pt x="63" y="3340"/>
                    <a:pt x="284" y="3466"/>
                  </a:cubicBezTo>
                  <a:cubicBezTo>
                    <a:pt x="324" y="3482"/>
                    <a:pt x="369" y="3490"/>
                    <a:pt x="415" y="3490"/>
                  </a:cubicBezTo>
                  <a:cubicBezTo>
                    <a:pt x="547" y="3490"/>
                    <a:pt x="686" y="3425"/>
                    <a:pt x="756" y="3308"/>
                  </a:cubicBezTo>
                  <a:lnTo>
                    <a:pt x="977" y="2804"/>
                  </a:lnTo>
                  <a:lnTo>
                    <a:pt x="2647" y="2804"/>
                  </a:lnTo>
                  <a:lnTo>
                    <a:pt x="2867" y="3308"/>
                  </a:lnTo>
                  <a:cubicBezTo>
                    <a:pt x="2962" y="3434"/>
                    <a:pt x="3056" y="3497"/>
                    <a:pt x="3182" y="3497"/>
                  </a:cubicBezTo>
                  <a:cubicBezTo>
                    <a:pt x="3245" y="3497"/>
                    <a:pt x="3308" y="3497"/>
                    <a:pt x="3340" y="3466"/>
                  </a:cubicBezTo>
                  <a:cubicBezTo>
                    <a:pt x="3497" y="3371"/>
                    <a:pt x="3592" y="3151"/>
                    <a:pt x="3497" y="2993"/>
                  </a:cubicBezTo>
                  <a:lnTo>
                    <a:pt x="2079" y="189"/>
                  </a:lnTo>
                  <a:cubicBezTo>
                    <a:pt x="2016" y="63"/>
                    <a:pt x="1890" y="0"/>
                    <a:pt x="176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10;p65">
              <a:extLst>
                <a:ext uri="{FF2B5EF4-FFF2-40B4-BE49-F238E27FC236}">
                  <a16:creationId xmlns:a16="http://schemas.microsoft.com/office/drawing/2014/main" id="{D9D11B45-320C-A21C-A7C5-5E2EA2BF8760}"/>
                </a:ext>
              </a:extLst>
            </p:cNvPr>
            <p:cNvSpPr/>
            <p:nvPr/>
          </p:nvSpPr>
          <p:spPr>
            <a:xfrm>
              <a:off x="-45128250" y="2879150"/>
              <a:ext cx="18150" cy="52800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68" y="2111"/>
                    <a:pt x="725" y="1954"/>
                    <a:pt x="725" y="1765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Workflow</a:t>
            </a:r>
            <a:endParaRPr b="1" dirty="0"/>
          </a:p>
        </p:txBody>
      </p:sp>
      <p:sp>
        <p:nvSpPr>
          <p:cNvPr id="457" name="Google Shape;457;p43"/>
          <p:cNvSpPr/>
          <p:nvPr/>
        </p:nvSpPr>
        <p:spPr>
          <a:xfrm>
            <a:off x="1652300" y="1361700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3"/>
          <p:cNvSpPr/>
          <p:nvPr/>
        </p:nvSpPr>
        <p:spPr>
          <a:xfrm>
            <a:off x="3540000" y="1361700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3"/>
          <p:cNvSpPr/>
          <p:nvPr/>
        </p:nvSpPr>
        <p:spPr>
          <a:xfrm>
            <a:off x="5427700" y="1361700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3"/>
          <p:cNvSpPr/>
          <p:nvPr/>
        </p:nvSpPr>
        <p:spPr>
          <a:xfrm>
            <a:off x="7315400" y="1361700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3"/>
          <p:cNvSpPr txBox="1"/>
          <p:nvPr/>
        </p:nvSpPr>
        <p:spPr>
          <a:xfrm flipH="1">
            <a:off x="834300" y="17863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b="1" dirty="0"/>
              <a:t>Data Collection using Pytrends API</a:t>
            </a:r>
            <a:endParaRPr sz="1200" b="1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62" name="Google Shape;462;p43"/>
          <p:cNvSpPr txBox="1"/>
          <p:nvPr/>
        </p:nvSpPr>
        <p:spPr>
          <a:xfrm flipH="1">
            <a:off x="2722000" y="17863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b="1" dirty="0"/>
              <a:t>Data Cleaning and Preprocessing</a:t>
            </a:r>
            <a:endParaRPr sz="1200" b="1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63" name="Google Shape;463;p43"/>
          <p:cNvSpPr txBox="1"/>
          <p:nvPr/>
        </p:nvSpPr>
        <p:spPr>
          <a:xfrm flipH="1">
            <a:off x="4609700" y="17863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b="1" dirty="0"/>
              <a:t>Exploratory Data Analysis </a:t>
            </a:r>
            <a:r>
              <a:rPr lang="en-IN" sz="1200" dirty="0"/>
              <a:t>(EDA)</a:t>
            </a:r>
            <a:endParaRPr sz="1200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64" name="Google Shape;464;p43"/>
          <p:cNvSpPr txBox="1"/>
          <p:nvPr/>
        </p:nvSpPr>
        <p:spPr>
          <a:xfrm flipH="1">
            <a:off x="6497400" y="17863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b="1" dirty="0"/>
              <a:t>Data Visualization</a:t>
            </a:r>
            <a:endParaRPr sz="1200" b="1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65" name="Google Shape;465;p43"/>
          <p:cNvCxnSpPr>
            <a:stCxn id="457" idx="6"/>
            <a:endCxn id="458" idx="2"/>
          </p:cNvCxnSpPr>
          <p:nvPr/>
        </p:nvCxnSpPr>
        <p:spPr>
          <a:xfrm>
            <a:off x="1828700" y="1449900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43"/>
          <p:cNvCxnSpPr>
            <a:stCxn id="458" idx="6"/>
            <a:endCxn id="459" idx="2"/>
          </p:cNvCxnSpPr>
          <p:nvPr/>
        </p:nvCxnSpPr>
        <p:spPr>
          <a:xfrm>
            <a:off x="3716400" y="1449900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43"/>
          <p:cNvCxnSpPr>
            <a:stCxn id="459" idx="6"/>
            <a:endCxn id="460" idx="2"/>
          </p:cNvCxnSpPr>
          <p:nvPr/>
        </p:nvCxnSpPr>
        <p:spPr>
          <a:xfrm>
            <a:off x="5604100" y="1449900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43"/>
          <p:cNvCxnSpPr>
            <a:stCxn id="457" idx="4"/>
            <a:endCxn id="461" idx="0"/>
          </p:cNvCxnSpPr>
          <p:nvPr/>
        </p:nvCxnSpPr>
        <p:spPr>
          <a:xfrm>
            <a:off x="1740500" y="1538100"/>
            <a:ext cx="0" cy="24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43"/>
          <p:cNvCxnSpPr>
            <a:stCxn id="458" idx="4"/>
            <a:endCxn id="462" idx="0"/>
          </p:cNvCxnSpPr>
          <p:nvPr/>
        </p:nvCxnSpPr>
        <p:spPr>
          <a:xfrm>
            <a:off x="3628200" y="1538100"/>
            <a:ext cx="0" cy="24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43"/>
          <p:cNvCxnSpPr>
            <a:stCxn id="459" idx="4"/>
            <a:endCxn id="463" idx="0"/>
          </p:cNvCxnSpPr>
          <p:nvPr/>
        </p:nvCxnSpPr>
        <p:spPr>
          <a:xfrm>
            <a:off x="5515900" y="1538100"/>
            <a:ext cx="0" cy="24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43"/>
          <p:cNvCxnSpPr>
            <a:stCxn id="460" idx="4"/>
            <a:endCxn id="464" idx="0"/>
          </p:cNvCxnSpPr>
          <p:nvPr/>
        </p:nvCxnSpPr>
        <p:spPr>
          <a:xfrm>
            <a:off x="7403600" y="1538100"/>
            <a:ext cx="0" cy="24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2" name="Google Shape;472;p43"/>
          <p:cNvSpPr/>
          <p:nvPr/>
        </p:nvSpPr>
        <p:spPr>
          <a:xfrm>
            <a:off x="1652300" y="3176925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3"/>
          <p:cNvSpPr/>
          <p:nvPr/>
        </p:nvSpPr>
        <p:spPr>
          <a:xfrm>
            <a:off x="3540000" y="3176925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3"/>
          <p:cNvSpPr/>
          <p:nvPr/>
        </p:nvSpPr>
        <p:spPr>
          <a:xfrm>
            <a:off x="5427700" y="3176925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3"/>
          <p:cNvSpPr/>
          <p:nvPr/>
        </p:nvSpPr>
        <p:spPr>
          <a:xfrm>
            <a:off x="7315400" y="3176925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3"/>
          <p:cNvSpPr txBox="1"/>
          <p:nvPr/>
        </p:nvSpPr>
        <p:spPr>
          <a:xfrm flipH="1">
            <a:off x="834300" y="360160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b="1" dirty="0"/>
              <a:t>Regional Interest Analysis</a:t>
            </a:r>
            <a:endParaRPr sz="1200" b="1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77" name="Google Shape;477;p43"/>
          <p:cNvSpPr txBox="1"/>
          <p:nvPr/>
        </p:nvSpPr>
        <p:spPr>
          <a:xfrm flipH="1">
            <a:off x="2722000" y="360160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b="1" dirty="0"/>
              <a:t>Related Queries Extraction</a:t>
            </a:r>
            <a:endParaRPr sz="1200" b="1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 flipH="1">
            <a:off x="4609700" y="360160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b="1" dirty="0"/>
              <a:t>Forecasting using Prophet Model</a:t>
            </a:r>
            <a:endParaRPr sz="1200" b="1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79" name="Google Shape;479;p43"/>
          <p:cNvSpPr txBox="1"/>
          <p:nvPr/>
        </p:nvSpPr>
        <p:spPr>
          <a:xfrm flipH="1">
            <a:off x="6497400" y="360160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b="1" dirty="0"/>
              <a:t>Insight Generation</a:t>
            </a:r>
            <a:endParaRPr sz="1200" b="1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80" name="Google Shape;480;p43"/>
          <p:cNvCxnSpPr>
            <a:stCxn id="472" idx="6"/>
            <a:endCxn id="473" idx="2"/>
          </p:cNvCxnSpPr>
          <p:nvPr/>
        </p:nvCxnSpPr>
        <p:spPr>
          <a:xfrm>
            <a:off x="1828700" y="3265125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43"/>
          <p:cNvCxnSpPr>
            <a:stCxn id="473" idx="6"/>
            <a:endCxn id="474" idx="2"/>
          </p:cNvCxnSpPr>
          <p:nvPr/>
        </p:nvCxnSpPr>
        <p:spPr>
          <a:xfrm>
            <a:off x="3716400" y="3265125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2" name="Google Shape;482;p43"/>
          <p:cNvCxnSpPr>
            <a:stCxn id="474" idx="6"/>
            <a:endCxn id="475" idx="2"/>
          </p:cNvCxnSpPr>
          <p:nvPr/>
        </p:nvCxnSpPr>
        <p:spPr>
          <a:xfrm>
            <a:off x="5604100" y="3265125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3" name="Google Shape;483;p43"/>
          <p:cNvCxnSpPr>
            <a:stCxn id="472" idx="4"/>
            <a:endCxn id="476" idx="0"/>
          </p:cNvCxnSpPr>
          <p:nvPr/>
        </p:nvCxnSpPr>
        <p:spPr>
          <a:xfrm>
            <a:off x="1740500" y="3353325"/>
            <a:ext cx="0" cy="24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43"/>
          <p:cNvCxnSpPr>
            <a:stCxn id="473" idx="4"/>
            <a:endCxn id="477" idx="0"/>
          </p:cNvCxnSpPr>
          <p:nvPr/>
        </p:nvCxnSpPr>
        <p:spPr>
          <a:xfrm>
            <a:off x="3628200" y="3353325"/>
            <a:ext cx="0" cy="24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43"/>
          <p:cNvCxnSpPr>
            <a:stCxn id="474" idx="4"/>
            <a:endCxn id="478" idx="0"/>
          </p:cNvCxnSpPr>
          <p:nvPr/>
        </p:nvCxnSpPr>
        <p:spPr>
          <a:xfrm>
            <a:off x="5515900" y="3353325"/>
            <a:ext cx="0" cy="24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43"/>
          <p:cNvCxnSpPr>
            <a:stCxn id="475" idx="4"/>
            <a:endCxn id="479" idx="0"/>
          </p:cNvCxnSpPr>
          <p:nvPr/>
        </p:nvCxnSpPr>
        <p:spPr>
          <a:xfrm>
            <a:off x="7403600" y="3353325"/>
            <a:ext cx="0" cy="24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43"/>
          <p:cNvCxnSpPr>
            <a:stCxn id="460" idx="6"/>
            <a:endCxn id="472" idx="2"/>
          </p:cNvCxnSpPr>
          <p:nvPr/>
        </p:nvCxnSpPr>
        <p:spPr>
          <a:xfrm flipH="1">
            <a:off x="1652300" y="1449900"/>
            <a:ext cx="5839500" cy="1815300"/>
          </a:xfrm>
          <a:prstGeom prst="bentConnector5">
            <a:avLst>
              <a:gd name="adj1" fmla="val -16013"/>
              <a:gd name="adj2" fmla="val 80359"/>
              <a:gd name="adj3" fmla="val 1158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Data Collection</a:t>
            </a:r>
            <a:endParaRPr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9BE7E9-D531-D4AF-65CD-27508CB3A079}"/>
              </a:ext>
            </a:extLst>
          </p:cNvPr>
          <p:cNvSpPr txBox="1"/>
          <p:nvPr/>
        </p:nvSpPr>
        <p:spPr>
          <a:xfrm>
            <a:off x="1115878" y="1239864"/>
            <a:ext cx="6842502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Data was collected using the Pytrends API, which provides access to Google Trends data.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144265-F2CB-47A0-EBFC-A98280E2DDA7}"/>
              </a:ext>
            </a:extLst>
          </p:cNvPr>
          <p:cNvSpPr txBox="1"/>
          <p:nvPr/>
        </p:nvSpPr>
        <p:spPr>
          <a:xfrm>
            <a:off x="1115878" y="1650569"/>
            <a:ext cx="5610387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4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b="1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Keywords analyzed:</a:t>
            </a:r>
          </a:p>
          <a:p>
            <a:pPr marL="357188" lvl="4" indent="-179388">
              <a:lnSpc>
                <a:spcPct val="150000"/>
              </a:lnSpc>
              <a:buClr>
                <a:schemeClr val="dk1"/>
              </a:buClr>
              <a:buSzPts val="12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Artificial Intelligence</a:t>
            </a:r>
          </a:p>
          <a:p>
            <a:pPr marL="357188" lvl="4" indent="-179388">
              <a:lnSpc>
                <a:spcPct val="150000"/>
              </a:lnSpc>
              <a:buClr>
                <a:schemeClr val="dk1"/>
              </a:buClr>
              <a:buSzPts val="12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Data Science</a:t>
            </a:r>
          </a:p>
          <a:p>
            <a:pPr marL="357188" lvl="4" indent="-179388">
              <a:lnSpc>
                <a:spcPct val="150000"/>
              </a:lnSpc>
              <a:buClr>
                <a:schemeClr val="dk1"/>
              </a:buClr>
              <a:buSzPts val="12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Machine Learning</a:t>
            </a:r>
          </a:p>
          <a:p>
            <a:pPr marL="357188" lvl="4" indent="-179388">
              <a:lnSpc>
                <a:spcPct val="150000"/>
              </a:lnSpc>
              <a:buClr>
                <a:schemeClr val="dk1"/>
              </a:buClr>
              <a:buSzPts val="12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Cloud Computing</a:t>
            </a:r>
          </a:p>
          <a:p>
            <a:pPr marL="357188" lvl="4" indent="-179388">
              <a:lnSpc>
                <a:spcPct val="150000"/>
              </a:lnSpc>
              <a:buClr>
                <a:schemeClr val="dk1"/>
              </a:buClr>
              <a:buSzPts val="12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Cybersecurity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200"/>
            </a:pPr>
            <a:endParaRPr lang="en-US" sz="900" dirty="0">
              <a:solidFill>
                <a:schemeClr val="dk1"/>
              </a:solidFill>
              <a:latin typeface="Cairo"/>
              <a:cs typeface="Cairo"/>
              <a:sym typeface="Cairo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b="1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Timeframe analyzed: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Last 5 years of search trends</a:t>
            </a:r>
          </a:p>
          <a:p>
            <a:endParaRPr lang="en-IN" dirty="0"/>
          </a:p>
        </p:txBody>
      </p:sp>
      <p:pic>
        <p:nvPicPr>
          <p:cNvPr id="3074" name="Picture 2" descr="119,100+ Data Collection Stock Photos ...">
            <a:extLst>
              <a:ext uri="{FF2B5EF4-FFF2-40B4-BE49-F238E27FC236}">
                <a16:creationId xmlns:a16="http://schemas.microsoft.com/office/drawing/2014/main" id="{0E149E85-9BCE-997C-3E1C-B2EB7E10C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08252"/>
            <a:ext cx="2365670" cy="235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Trend Analysis Visualization</a:t>
            </a:r>
            <a:endParaRPr b="1" dirty="0"/>
          </a:p>
        </p:txBody>
      </p:sp>
      <p:sp>
        <p:nvSpPr>
          <p:cNvPr id="431" name="Google Shape;431;p40"/>
          <p:cNvSpPr txBox="1">
            <a:spLocks noGrp="1"/>
          </p:cNvSpPr>
          <p:nvPr>
            <p:ph type="subTitle" idx="4294967295"/>
          </p:nvPr>
        </p:nvSpPr>
        <p:spPr>
          <a:xfrm>
            <a:off x="5501898" y="1585689"/>
            <a:ext cx="3130658" cy="2525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US" dirty="0"/>
              <a:t>The visualization compares search interest trends for different technologies over time.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dirty="0"/>
          </a:p>
          <a:p>
            <a:pPr marL="152400" indent="0">
              <a:lnSpc>
                <a:spcPct val="150000"/>
              </a:lnSpc>
              <a:buNone/>
            </a:pPr>
            <a:r>
              <a:rPr lang="en-US" dirty="0"/>
              <a:t>Key observation:</a:t>
            </a:r>
          </a:p>
          <a:p>
            <a:pPr>
              <a:lnSpc>
                <a:spcPct val="150000"/>
              </a:lnSpc>
            </a:pPr>
            <a:r>
              <a:rPr lang="en-US" dirty="0"/>
              <a:t>Artificial Intelligence and Machine Learning show strong growth trends.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0B8DFC-6391-151B-D090-4BEE6EBB3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59" r="6531"/>
          <a:stretch>
            <a:fillRect/>
          </a:stretch>
        </p:blipFill>
        <p:spPr>
          <a:xfrm>
            <a:off x="503694" y="1225985"/>
            <a:ext cx="4998204" cy="28854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03F5CA38-351A-9642-145A-E9E948D9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7731279E-7B3A-3654-3519-1E898C9539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Correlation Analysis</a:t>
            </a:r>
            <a:endParaRPr b="1" dirty="0"/>
          </a:p>
        </p:txBody>
      </p:sp>
      <p:sp>
        <p:nvSpPr>
          <p:cNvPr id="431" name="Google Shape;431;p40">
            <a:extLst>
              <a:ext uri="{FF2B5EF4-FFF2-40B4-BE49-F238E27FC236}">
                <a16:creationId xmlns:a16="http://schemas.microsoft.com/office/drawing/2014/main" id="{F513F118-7640-8AB1-9C49-FB8ECB3656A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176433" y="1585689"/>
            <a:ext cx="3456123" cy="2525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US" dirty="0"/>
              <a:t>The correlation heatmap shows relationships between search trends.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dirty="0"/>
          </a:p>
          <a:p>
            <a:pPr marL="152400" indent="0">
              <a:lnSpc>
                <a:spcPct val="150000"/>
              </a:lnSpc>
              <a:buNone/>
            </a:pPr>
            <a:r>
              <a:rPr lang="en-US" dirty="0"/>
              <a:t>Example insight:</a:t>
            </a:r>
          </a:p>
          <a:p>
            <a:pPr>
              <a:lnSpc>
                <a:spcPct val="150000"/>
              </a:lnSpc>
            </a:pPr>
            <a:r>
              <a:rPr lang="en-US" dirty="0"/>
              <a:t>Machine Learning and Artificial Intelligence show strong correlation, indicating related growth patterns.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BAB00-9048-5322-2C33-C4728D8AD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40" y="1150297"/>
            <a:ext cx="3948193" cy="296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28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58CBC730-BFA9-04C6-85AC-B983959F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F92A2924-B3C1-3C23-5A6B-C468AC3E6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Regional Analysis</a:t>
            </a:r>
            <a:endParaRPr b="1" dirty="0"/>
          </a:p>
        </p:txBody>
      </p:sp>
      <p:sp>
        <p:nvSpPr>
          <p:cNvPr id="431" name="Google Shape;431;p40">
            <a:extLst>
              <a:ext uri="{FF2B5EF4-FFF2-40B4-BE49-F238E27FC236}">
                <a16:creationId xmlns:a16="http://schemas.microsoft.com/office/drawing/2014/main" id="{7AA05785-7D0B-5301-C459-78A70F1AF11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176433" y="1585689"/>
            <a:ext cx="3456123" cy="2525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Regional analysis identifies which countries show the highest interest in emerging technologies.</a:t>
            </a:r>
          </a:p>
          <a:p>
            <a:pPr>
              <a:lnSpc>
                <a:spcPct val="150000"/>
              </a:lnSpc>
            </a:pPr>
            <a:r>
              <a:rPr lang="en-US" dirty="0"/>
              <a:t>This information can help companies target markets effectively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1ADB1-AE1C-ED99-7FD8-57BE333106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2285"/>
          <a:stretch>
            <a:fillRect/>
          </a:stretch>
        </p:blipFill>
        <p:spPr>
          <a:xfrm>
            <a:off x="720000" y="1372108"/>
            <a:ext cx="4688908" cy="239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05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036047BE-BCF2-6609-4D70-52065303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0C4D71A7-5476-D650-7086-1ACE8F50A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Future Trend Prediction</a:t>
            </a:r>
            <a:endParaRPr b="1" dirty="0"/>
          </a:p>
        </p:txBody>
      </p:sp>
      <p:sp>
        <p:nvSpPr>
          <p:cNvPr id="431" name="Google Shape;431;p40">
            <a:extLst>
              <a:ext uri="{FF2B5EF4-FFF2-40B4-BE49-F238E27FC236}">
                <a16:creationId xmlns:a16="http://schemas.microsoft.com/office/drawing/2014/main" id="{17274B8A-4CD6-1828-0E3F-669C203A458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176433" y="1515947"/>
            <a:ext cx="3456123" cy="2525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US" dirty="0"/>
              <a:t>The Prophet forecasting model predicts future search interest.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dirty="0"/>
          </a:p>
          <a:p>
            <a:pPr marL="152400" indent="0">
              <a:lnSpc>
                <a:spcPct val="150000"/>
              </a:lnSpc>
              <a:buNone/>
            </a:pPr>
            <a:r>
              <a:rPr lang="en-US" dirty="0"/>
              <a:t>Prediction period: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Next 180 days (6 months)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This helps understand future demand trends.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BCC5B5-6EED-8AAF-A8B6-9CF20E1D4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44" y="1444525"/>
            <a:ext cx="4680133" cy="280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47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26,700+ Key Insights Stock Photos ...">
            <a:extLst>
              <a:ext uri="{FF2B5EF4-FFF2-40B4-BE49-F238E27FC236}">
                <a16:creationId xmlns:a16="http://schemas.microsoft.com/office/drawing/2014/main" id="{D9A17C96-4E5D-76E1-3DEF-E15616C53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717" y="819594"/>
            <a:ext cx="3000739" cy="300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5" name="Google Shape;365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Key Insights</a:t>
            </a:r>
            <a:endParaRPr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70D5F2-F459-490C-CA11-30417B727BCC}"/>
              </a:ext>
            </a:extLst>
          </p:cNvPr>
          <p:cNvSpPr txBox="1"/>
          <p:nvPr/>
        </p:nvSpPr>
        <p:spPr>
          <a:xfrm>
            <a:off x="937647" y="1270860"/>
            <a:ext cx="47889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Important insights from the project: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Artificial Intelligence search demand has grown significantly in recent years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Machine Learning trends closely follow AI growth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Cloud Computing remains consistently popular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Cybersecurity interest increases during major cyber incidents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dk1"/>
                </a:solidFill>
                <a:latin typeface="Cairo"/>
                <a:cs typeface="Cairo"/>
                <a:sym typeface="Cairo"/>
              </a:rPr>
              <a:t>Technology searches show strong seasonal patterns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>
          <a:extLst>
            <a:ext uri="{FF2B5EF4-FFF2-40B4-BE49-F238E27FC236}">
              <a16:creationId xmlns:a16="http://schemas.microsoft.com/office/drawing/2014/main" id="{78B0CB49-CCAF-72BB-552F-27D931A3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>
            <a:extLst>
              <a:ext uri="{FF2B5EF4-FFF2-40B4-BE49-F238E27FC236}">
                <a16:creationId xmlns:a16="http://schemas.microsoft.com/office/drawing/2014/main" id="{0F8981B9-050A-C6C6-DA31-0A3D7C463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Conclusion</a:t>
            </a:r>
            <a:endParaRPr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6D354D-D51A-1A6B-C3C3-54EEB888CCF8}"/>
              </a:ext>
            </a:extLst>
          </p:cNvPr>
          <p:cNvSpPr txBox="1"/>
          <p:nvPr/>
        </p:nvSpPr>
        <p:spPr>
          <a:xfrm>
            <a:off x="906651" y="1108129"/>
            <a:ext cx="726870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This project demonstrates how search trend data can be used to: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Analyze market demand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Identify emerging technologies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Predict future trends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Such insights can help businesses, researchers, and marketers make better strategic decisions.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596B0-6E90-7014-4A27-C18BDDEF98CE}"/>
              </a:ext>
            </a:extLst>
          </p:cNvPr>
          <p:cNvSpPr txBox="1"/>
          <p:nvPr/>
        </p:nvSpPr>
        <p:spPr>
          <a:xfrm>
            <a:off x="906650" y="2744686"/>
            <a:ext cx="726870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>
                <a:latin typeface="Cairo" panose="020B0604020202020204" charset="-78"/>
                <a:cs typeface="Cairo" panose="020B0604020202020204" charset="-78"/>
              </a:rPr>
              <a:t>Future Improvements :</a:t>
            </a:r>
            <a:endParaRPr lang="en-US" sz="1200" b="1" dirty="0">
              <a:latin typeface="Cairo" panose="020B0604020202020204" charset="-78"/>
              <a:cs typeface="Cairo" panose="020B0604020202020204" charset="-78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Creating an interactive dashboard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Real-time trend monitoring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Integration with additional data sources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Advanced </a:t>
            </a:r>
            <a:r>
              <a:rPr lang="en-US" sz="1200" dirty="0">
                <a:solidFill>
                  <a:schemeClr val="dk1"/>
                </a:solidFill>
                <a:latin typeface="Cairo" panose="020B0604020202020204" charset="-78"/>
                <a:cs typeface="Cairo" panose="020B0604020202020204" charset="-78"/>
              </a:rPr>
              <a:t>machine</a:t>
            </a:r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 learning forecasting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0585983"/>
      </p:ext>
    </p:extLst>
  </p:cSld>
  <p:clrMapOvr>
    <a:masterClrMapping/>
  </p:clrMapOvr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472</Words>
  <Application>Microsoft Office PowerPoint</Application>
  <PresentationFormat>On-screen Show (16:9)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Raleway</vt:lpstr>
      <vt:lpstr>Space Grotesk Medium</vt:lpstr>
      <vt:lpstr>Anaheim</vt:lpstr>
      <vt:lpstr>Wingdings</vt:lpstr>
      <vt:lpstr>Nunito Light</vt:lpstr>
      <vt:lpstr>Cairo</vt:lpstr>
      <vt:lpstr>Open Sans</vt:lpstr>
      <vt:lpstr>Arial</vt:lpstr>
      <vt:lpstr>Space Grotesk</vt:lpstr>
      <vt:lpstr>Data Migration Project Proposal by Slidesgo</vt:lpstr>
      <vt:lpstr>Google Trends Market Intelligence &amp; Forecasting using Python  -Internship Project Submission</vt:lpstr>
      <vt:lpstr>Table of contents</vt:lpstr>
      <vt:lpstr>Introduction</vt:lpstr>
      <vt:lpstr>Project Motivation</vt:lpstr>
      <vt:lpstr>Objectives</vt:lpstr>
      <vt:lpstr>Technologies Used</vt:lpstr>
      <vt:lpstr>Workflow</vt:lpstr>
      <vt:lpstr>Data Collection</vt:lpstr>
      <vt:lpstr>Trend Analysis Visualization</vt:lpstr>
      <vt:lpstr>Correlation Analysis</vt:lpstr>
      <vt:lpstr>Regional Analysis</vt:lpstr>
      <vt:lpstr>Future Trend Prediction</vt:lpstr>
      <vt:lpstr>Key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Ajay Gautham C</cp:lastModifiedBy>
  <cp:revision>2</cp:revision>
  <dcterms:modified xsi:type="dcterms:W3CDTF">2026-03-04T14:09:36Z</dcterms:modified>
</cp:coreProperties>
</file>